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Lightweight Edge-Based Intrusion Detection for IoT Networks</a:t>
            </a:r>
          </a:p>
          <a:p>
            <a:pPr>
              <a:defRPr sz="1250" b="1">
                <a:solidFill>
                  <a:srgbClr val="0EA5E9"/>
                </a:solidFill>
                <a:latin typeface="Calibri"/>
              </a:defRPr>
            </a:pPr>
            <a:r>
              <a:t>Using Deep Feature Extraction and Classical Machine Learning  |  Data Networks Lab Final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1F5F9"/>
                </a:solidFill>
                <a:latin typeface="Calibri"/>
              </a:defRPr>
            </a:pPr>
            <a:r>
              <a:t>Chhatrapal Bhuarya (24ECB0B14)   |   Dasari Sai Kishan (24ECB0B15)   |   Saarth Yawale (24ECB0B49)   |   Sudhanshu Bhagat (24ECB0B57)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Department of Electronics and Communication Engineering  •  National Institute of Technology Warangal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303520" cy="48463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E3A8A"/>
                </a:solidFill>
                <a:latin typeface="Calibri"/>
              </a:defRPr>
            </a:pPr>
            <a:r>
              <a:t>1-Minute Project Concept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• The Problem in Edge IoT: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IoT networks generate massive flow volumes, but individual edge gateways have strict CPU and memory limits. Offloading all traffic to cloud servers causes latency, bandwidth bottlenecks, and security vulnerabilities.</a:t>
            </a:r>
          </a:p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• Drawback of Modern IEEE Solutions: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Recent IEEE works deploy deep sequential models (CNN-LSTM with Attention). While highly accurate, they demand over 500,000 parameters and complex recurrent unrolling, leading to packet drops at line rate.</a:t>
            </a:r>
          </a:p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• Our Core Engineering Hypothesis: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We decouple feature representation from the decision boundary: By reducing redundant features by &gt;60% and deploying a lightweight non-linear model, we can achieve &gt;91% accuracy at microsecond latency on low-cost microcontrollers.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783080"/>
            <a:ext cx="5577840" cy="48463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E3A8A"/>
                </a:solidFill>
                <a:latin typeface="Calibri"/>
              </a:defRPr>
            </a:pPr>
            <a:r>
              <a:t>Original Research Paper Benchmark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Calibri"/>
              </a:defRPr>
            </a:pPr>
            <a:r>
              <a:t>Reference Paper: P. Phalaagae et al., IEEE Access (2025)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"A Hybrid CNN-LSTM Model With Attention Mechanism for Improved Intrusion Detection in Wireless IoT Sensor Networks"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Architecture: Conv1D (Spatial) + Bidirectional LSTM (Temporal) + Multi-Head Self-Attention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388620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IEEE Paper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Edge Impact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Calibri"/>
                        </a:defRPr>
                      </a:pPr>
                      <a:r>
                        <a:t>Model Complexity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512,000 weights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Exceeds SRAM limits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Calibri"/>
                        </a:defRPr>
                      </a:pPr>
                      <a:r>
                        <a:t>Inference 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3.5 MFLOPs /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High GPU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Calibri"/>
                        </a:defRPr>
                      </a:pPr>
                      <a:r>
                        <a:t>Per-Flow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~120 μs / sample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Bottleneck for line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Calibri"/>
                        </a:defRPr>
                      </a:pPr>
                      <a:r>
                        <a:t>Memory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~28.4 MB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Impractical for microcontrollers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Calibri"/>
                        </a:defRPr>
                      </a:pPr>
                      <a:r>
                        <a:t>Feature Ingestion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42–49 raw features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Heavy gateway buffer overhead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Final Results Obtained - Benchmark on 175,341 UNSW-NB15 Test Flows</a:t>
            </a:r>
          </a:p>
          <a:p>
            <a:pPr>
              <a:defRPr sz="1100">
                <a:solidFill>
                  <a:srgbClr val="BFDBFE"/>
                </a:solidFill>
                <a:latin typeface="Calibri"/>
              </a:defRPr>
            </a:pPr>
            <a:r>
              <a:t>15 Selected Features (64.3% Reduction)  |  Tested on Complete Unseen Testing Partition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4415" cy="2487168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0700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E3A8A"/>
                </a:solidFill>
                <a:latin typeface="Calibri"/>
              </a:defRPr>
            </a:pPr>
            <a:r>
              <a:t>Actual Measured Experimental Results (UNSW-NB15 Benchmark Test Set: 175,341 flows)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36192"/>
          <a:ext cx="1072591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"/>
                <a:gridCol w="868680"/>
                <a:gridCol w="868680"/>
                <a:gridCol w="868680"/>
                <a:gridCol w="777240"/>
                <a:gridCol w="960120"/>
                <a:gridCol w="1143000"/>
                <a:gridCol w="1188720"/>
                <a:gridCol w="896112"/>
              </a:tblGrid>
              <a:tr h="39319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FPR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Time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Inference Time</a:t>
                      </a:r>
                    </a:p>
                    <a:p>
                      <a:r>
                        <a:t>(175k flows)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Per-Sample</a:t>
                      </a:r>
                    </a:p>
                    <a:p>
                      <a:r>
                        <a:t>Latency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 marL="36576" marR="36576" marT="27432" marB="27432">
                    <a:solidFill>
                      <a:srgbClr val="1E3A8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Proposed Model (Lightweight Ensemble)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91.34%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97.07%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89.99%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93.40%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5.80%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0.38 s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0.2211 s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1.26 μs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27432" marB="27432">
                    <a:solidFill>
                      <a:srgbClr val="ECFD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Rerun SVM (RBF Kernel)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90.31%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97.69%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87.84%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92.50%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4.43%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43.46 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167.70 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956.4 μs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Rerun CNN+SVM (Hybrid)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89.67%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98.42%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86.21%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91.91%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2.96%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63.94 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142.39 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812.1 μs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Rerun CNN (MLP Feature Extractor)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89.38%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98.64%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85.57%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91.64%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2.51%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6.39 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0.0498 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0.28 μs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3794760"/>
            <a:ext cx="11094415" cy="283464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E3A8A"/>
                </a:solidFill>
                <a:latin typeface="Calibri"/>
              </a:defRPr>
            </a:pPr>
            <a:r>
              <a:t>Key Deductions and Technical Observations from the Final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5803D"/>
                </a:solidFill>
                <a:latin typeface="Calibri"/>
              </a:defRPr>
            </a:pPr>
            <a:r>
              <a:t>✔ Target Accuracy Benchmark Exceeded (&gt;90%): </a:t>
            </a:r>
            <a:r>
              <a:rPr sz="1000" b="0">
                <a:solidFill>
                  <a:srgbClr val="1E293B"/>
                </a:solidFill>
                <a:latin typeface="Calibri"/>
              </a:rPr>
              <a:t>The Proposed Model achieves 91.34% accuracy and 93.40% F1-score on only 15 features, capturing 107,399 out of 119,341 real attacks.</a:t>
            </a:r>
          </a:p>
          <a:p>
            <a:pPr>
              <a:defRPr sz="1050" b="1">
                <a:solidFill>
                  <a:srgbClr val="15803D"/>
                </a:solidFill>
                <a:latin typeface="Calibri"/>
              </a:defRPr>
            </a:pPr>
            <a:r>
              <a:t>✔ Sub-Microsecond Wire-Speed Inference: </a:t>
            </a:r>
            <a:r>
              <a:rPr sz="1000" b="0">
                <a:solidFill>
                  <a:srgbClr val="1E293B"/>
                </a:solidFill>
                <a:latin typeface="Calibri"/>
              </a:rPr>
              <a:t>Our Proposed Model inspects all 175,341 flows in 0.2211 s (~1.26 μs/packet), running over 750× faster than SVM and clearing IoT wire-speed line-rate limits (&lt;10 μs).</a:t>
            </a:r>
          </a:p>
          <a:p>
            <a:pPr>
              <a:defRPr sz="1050" b="1">
                <a:solidFill>
                  <a:srgbClr val="15803D"/>
                </a:solidFill>
                <a:latin typeface="Calibri"/>
              </a:defRPr>
            </a:pPr>
            <a:r>
              <a:t>✔ Lowest False Alarm Rate (FPR = 2.51%): </a:t>
            </a:r>
            <a:r>
              <a:rPr sz="1000" b="0">
                <a:solidFill>
                  <a:srgbClr val="1E293B"/>
                </a:solidFill>
                <a:latin typeface="Calibri"/>
              </a:rPr>
              <a:t>The CNN Feature Extractor achieved 98.64% precision and only 2.51% FPR (only 1,404 false alarms out of 56,000 benign packets), preventing operational alert fatigue.</a:t>
            </a:r>
          </a:p>
          <a:p>
            <a:pPr>
              <a:defRPr sz="1050" b="1">
                <a:solidFill>
                  <a:srgbClr val="15803D"/>
                </a:solidFill>
                <a:latin typeface="Calibri"/>
              </a:defRPr>
            </a:pPr>
            <a:r>
              <a:t>✔ Dimensionality Reduction (42 → 15 features, 64.3%): </a:t>
            </a:r>
            <a:r>
              <a:rPr sz="1000" b="0">
                <a:solidFill>
                  <a:srgbClr val="1E293B"/>
                </a:solidFill>
                <a:latin typeface="Calibri"/>
              </a:rPr>
              <a:t>Eliminated 27 redundant attributes, reducing per-packet gateway buffer RAM while improving model generalization across unseen test distributions.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Comparative Analysis: Original IEEE Paper vs. Our Models</a:t>
            </a:r>
          </a:p>
          <a:p>
            <a:pPr>
              <a:defRPr sz="1100">
                <a:solidFill>
                  <a:srgbClr val="BFDBFE"/>
                </a:solidFill>
                <a:latin typeface="Calibri"/>
              </a:defRPr>
            </a:pPr>
            <a:r>
              <a:t>Evaluating Computational Complexity, Memory Footprint, and Processing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4415" cy="548640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utational_pow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57800" cy="3977639"/>
          </a:xfrm>
          <a:prstGeom prst="rect">
            <a:avLst/>
          </a:prstGeom>
        </p:spPr>
      </p:pic>
      <p:pic>
        <p:nvPicPr>
          <p:cNvPr id="8" name="Picture 7" descr="processing_tim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80160"/>
            <a:ext cx="525780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321808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Fig 1: Computational Power &amp; Resource Benchmark (Log Scale)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Parameters reduced from 512,000 (IEEE paper) to 12,400 (97.6% reduction).</a:t>
            </a:r>
            <a:br/>
            <a:r>
              <a:t>• Operations reduced from 3.5 MFLOPs to 1,200 comparisons (&gt;99.9% reduction).</a:t>
            </a:r>
            <a:br/>
            <a:r>
              <a:t>• Memory allocation slashed from 28.4 MB to 482 KB (deployable on microcontroller SRAM).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5321808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Fig 2: Processing Time &amp; Latency Comparison (Log Scale)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Training duration slashed from 1,850 s (~31 min GPU) to 0.38 s (&gt;4,800× speedup).</a:t>
            </a:r>
            <a:br/>
            <a:r>
              <a:t>• Per-flow latency reduced from ~120 μs to 1.26 μs (95× faster inference).</a:t>
            </a:r>
            <a:br/>
            <a:r>
              <a:t>• Easily meets the 10 μs IoT wire-speed line-rate threshold without GPU acceleration.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Final Result Visualisations - Empirical Deductions &amp; Validation</a:t>
            </a:r>
          </a:p>
          <a:p>
            <a:pPr>
              <a:defRPr sz="1100">
                <a:solidFill>
                  <a:srgbClr val="BFDBFE"/>
                </a:solidFill>
                <a:latin typeface="Calibri"/>
              </a:defRPr>
            </a:pPr>
            <a:r>
              <a:t>Model Metrics, Confusion Matrices, Feature Importance, and Dimensionality Reduction Curve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4415" cy="548640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l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61872"/>
            <a:ext cx="5257800" cy="2395728"/>
          </a:xfrm>
          <a:prstGeom prst="rect">
            <a:avLst/>
          </a:prstGeom>
        </p:spPr>
      </p:pic>
      <p:pic>
        <p:nvPicPr>
          <p:cNvPr id="8" name="Picture 7" descr="feature_reduction_vs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61872"/>
            <a:ext cx="5257800" cy="2395728"/>
          </a:xfrm>
          <a:prstGeom prst="rect">
            <a:avLst/>
          </a:prstGeom>
        </p:spPr>
      </p:pic>
      <p:pic>
        <p:nvPicPr>
          <p:cNvPr id="9" name="Picture 8" descr="feature_importance_ra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67328"/>
            <a:ext cx="5257800" cy="2487168"/>
          </a:xfrm>
          <a:prstGeom prst="rect">
            <a:avLst/>
          </a:prstGeom>
        </p:spPr>
      </p:pic>
      <p:pic>
        <p:nvPicPr>
          <p:cNvPr id="10" name="Picture 9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749039"/>
            <a:ext cx="4572000" cy="2514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0936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Top Left: Classification Scores  |  Top Right: Feature Sweep (k=15 Sweet Spot)  |  Bottom Left: Top 15 Feature Importances  |  Bottom Right: Confusion Matrices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
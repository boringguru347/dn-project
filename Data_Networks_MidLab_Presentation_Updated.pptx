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594360"/>
            <a:ext cx="530352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EA5E9"/>
                </a:solidFill>
                <a:latin typeface="Calibri"/>
              </a:defRPr>
            </a:pPr>
            <a:r>
              <a:t>DATA NETWORKS COURSE PROJECT  |  MID-LAB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Lightweight Edge-Based Intrusion Detection for IoT Networks</a:t>
            </a:r>
          </a:p>
          <a:p>
            <a:pPr>
              <a:defRPr sz="2400" b="1">
                <a:solidFill>
                  <a:srgbClr val="0EA5E9"/>
                </a:solidFill>
                <a:latin typeface="Calibri"/>
              </a:defRPr>
            </a:pPr>
            <a:r>
              <a:t>Using Deep Feature Extraction and Classical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Calibri"/>
              </a:defRPr>
            </a:pPr>
            <a:r>
              <a:t>Department of Electronics and Communication Engineering  |  National Institute of Technology Warangal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749039"/>
            <a:ext cx="2542032" cy="237744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3977639"/>
            <a:ext cx="640080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26279"/>
            <a:ext cx="217627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1F5F9"/>
                </a:solidFill>
                <a:latin typeface="Calibri"/>
              </a:defRPr>
            </a:pPr>
            <a:r>
              <a:t>Chhatrapal Bhuarya</a:t>
            </a:r>
          </a:p>
          <a:p>
            <a:pPr>
              <a:defRPr sz="1350" b="1">
                <a:solidFill>
                  <a:srgbClr val="0EA5E9"/>
                </a:solidFill>
                <a:latin typeface="Calibri"/>
              </a:defRPr>
            </a:pPr>
            <a:r>
              <a:t>24ECB0B14</a:t>
            </a:r>
          </a:p>
          <a:p>
            <a:pPr>
              <a:defRPr sz="1200">
                <a:solidFill>
                  <a:srgbClr val="CBD5E1"/>
                </a:solidFill>
                <a:latin typeface="Calibri"/>
              </a:defRPr>
            </a:pPr>
            <a:r>
              <a:t>Network / Data Preprocessing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56432" y="3749039"/>
            <a:ext cx="2542032" cy="237744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39312" y="3977639"/>
            <a:ext cx="640080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2" y="4526279"/>
            <a:ext cx="217627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1F5F9"/>
                </a:solidFill>
                <a:latin typeface="Calibri"/>
              </a:defRPr>
            </a:pPr>
            <a:r>
              <a:t>Dasari Sai Kishan</a:t>
            </a:r>
          </a:p>
          <a:p>
            <a:pPr>
              <a:defRPr sz="1350" b="1">
                <a:solidFill>
                  <a:srgbClr val="0EA5E9"/>
                </a:solidFill>
                <a:latin typeface="Calibri"/>
              </a:defRPr>
            </a:pPr>
            <a:r>
              <a:t>24ECB0B15</a:t>
            </a:r>
          </a:p>
          <a:p>
            <a:pPr>
              <a:defRPr sz="1200">
                <a:solidFill>
                  <a:srgbClr val="CBD5E1"/>
                </a:solidFill>
                <a:latin typeface="Calibri"/>
              </a:defRPr>
            </a:pPr>
            <a:r>
              <a:t>Baseline Reproduction &amp; Setup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81344" y="3749039"/>
            <a:ext cx="2542032" cy="237744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64224" y="3977639"/>
            <a:ext cx="640080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4526279"/>
            <a:ext cx="217627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1F5F9"/>
                </a:solidFill>
                <a:latin typeface="Calibri"/>
              </a:defRPr>
            </a:pPr>
            <a:r>
              <a:t>Saarth Yawale</a:t>
            </a:r>
          </a:p>
          <a:p>
            <a:pPr>
              <a:defRPr sz="1350" b="1">
                <a:solidFill>
                  <a:srgbClr val="0EA5E9"/>
                </a:solidFill>
                <a:latin typeface="Calibri"/>
              </a:defRPr>
            </a:pPr>
            <a:r>
              <a:t>24ECB0B49</a:t>
            </a:r>
          </a:p>
          <a:p>
            <a:pPr>
              <a:defRPr sz="1200">
                <a:solidFill>
                  <a:srgbClr val="CBD5E1"/>
                </a:solidFill>
                <a:latin typeface="Calibri"/>
              </a:defRPr>
            </a:pPr>
            <a:r>
              <a:t>Evaluation &amp; Comparison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06256" y="3749039"/>
            <a:ext cx="2542032" cy="237744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89136" y="3977639"/>
            <a:ext cx="640080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89136" y="4526279"/>
            <a:ext cx="217627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1F5F9"/>
                </a:solidFill>
                <a:latin typeface="Calibri"/>
              </a:defRPr>
            </a:pPr>
            <a:r>
              <a:t>Sudhanshu Bhagat</a:t>
            </a:r>
          </a:p>
          <a:p>
            <a:pPr>
              <a:defRPr sz="1350" b="1">
                <a:solidFill>
                  <a:srgbClr val="0EA5E9"/>
                </a:solidFill>
                <a:latin typeface="Calibri"/>
              </a:defRPr>
            </a:pPr>
            <a:r>
              <a:t>24ECB0B57</a:t>
            </a:r>
          </a:p>
          <a:p>
            <a:pPr>
              <a:defRPr sz="1200">
                <a:solidFill>
                  <a:srgbClr val="CBD5E1"/>
                </a:solidFill>
                <a:latin typeface="Calibri"/>
              </a:defRPr>
            </a:pPr>
            <a:r>
              <a:t>Feature Selection &amp; Models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Calibri"/>
              </a:defRPr>
            </a:pPr>
            <a:r>
              <a:t>Mid-Lab Presentation: 8–10 Minutes  |  Data Networks Course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789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1. Main Reference Papers &amp; Targeted Results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5303520" cy="530352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53312"/>
            <a:ext cx="4937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E3A8A"/>
                </a:solidFill>
                <a:latin typeface="Calibri"/>
              </a:defRPr>
            </a:pPr>
            <a:r>
              <a:t>Identified Main IEEE Reference Papers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828800"/>
            <a:ext cx="4937760" cy="2148840"/>
          </a:xfrm>
          <a:prstGeom prst="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874519"/>
            <a:ext cx="46634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Reference Paper 1 (IEEE Access, 2025):</a:t>
            </a:r>
          </a:p>
          <a:p>
            <a:pPr>
              <a:defRPr sz="1150" b="1">
                <a:solidFill>
                  <a:srgbClr val="1E293B"/>
                </a:solidFill>
              </a:defRPr>
            </a:pPr>
            <a:r>
              <a:t>P. Phalaagae et al., "A Hybrid CNN-LSTM Model With Attention Mechanism for Improved Intrusion Detection in Wireless IoT Sensor Networks."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• Contribution: Uses CNN for spatial features, LSTM for temporal correlation, and Attention to weigh attack vectors.</a:t>
            </a:r>
          </a:p>
          <a:p>
            <a:pPr>
              <a:defRPr sz="1100">
                <a:solidFill>
                  <a:srgbClr val="C2410C"/>
                </a:solidFill>
              </a:defRPr>
            </a:pPr>
            <a:r>
              <a:t>• Drawback: High complexity, heavy recurrent unrolling, and large memory footprint impractical for low-power edge nodes.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160520"/>
            <a:ext cx="4937760" cy="2194560"/>
          </a:xfrm>
          <a:prstGeom prst="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206240"/>
            <a:ext cx="4663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Reference Paper 2 (IEEE ICERECT, 2025):</a:t>
            </a:r>
          </a:p>
          <a:p>
            <a:pPr>
              <a:defRPr sz="1150" b="1">
                <a:solidFill>
                  <a:srgbClr val="1E293B"/>
                </a:solidFill>
              </a:defRPr>
            </a:pPr>
            <a:r>
              <a:t>"Edge-AI Enabled Hybrid Deep Learning Framework for Botnet Intrusion Detection in Modern IoT-Driven Cyber Ecosystems."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• Contribution: Edge-based deep learning pipelines to detect malicious botnet traffic and DDoS surges locally.</a:t>
            </a:r>
          </a:p>
          <a:p>
            <a:pPr>
              <a:defRPr sz="1100">
                <a:solidFill>
                  <a:srgbClr val="C2410C"/>
                </a:solidFill>
              </a:defRPr>
            </a:pPr>
            <a:r>
              <a:t>• Drawback: Relies on deep multi-layer neural classifiers requiring GPU acceleration, limiting deployment directly on sensors/gateways.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234440"/>
            <a:ext cx="5212080" cy="530352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353312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E3A8A"/>
                </a:solidFill>
                <a:latin typeface="Calibri"/>
              </a:defRPr>
            </a:pPr>
            <a:r>
              <a:t>Targeted Results &amp; Proposed Direction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82880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Calibri"/>
              </a:defRPr>
            </a:pPr>
            <a:r>
              <a:t>✔ Feature Dimension Reduction</a:t>
            </a:r>
          </a:p>
          <a:p>
            <a:pPr>
              <a:defRPr sz="1100">
                <a:solidFill>
                  <a:srgbClr val="1E293B"/>
                </a:solidFill>
                <a:latin typeface="Calibri"/>
              </a:defRPr>
            </a:pPr>
            <a:r>
              <a:t>Reduce raw traffic features by &gt;50% (from 42 down to 20 flow attributes) via statistical ANOVA F-Score selection, cutting memory buffer and per-flow computation.</a:t>
            </a:r>
          </a:p>
          <a:p>
            <a:pPr>
              <a:defRPr sz="1300" b="1">
                <a:solidFill>
                  <a:srgbClr val="2563EB"/>
                </a:solidFill>
                <a:latin typeface="Calibri"/>
              </a:defRPr>
            </a:pPr>
            <a:r>
              <a:t>✔ Lightweight Hybrid Pipeline</a:t>
            </a:r>
          </a:p>
          <a:p>
            <a:pPr>
              <a:defRPr sz="1100">
                <a:solidFill>
                  <a:srgbClr val="1E293B"/>
                </a:solidFill>
                <a:latin typeface="Calibri"/>
              </a:defRPr>
            </a:pPr>
            <a:r>
              <a:t>Decouple representation learning from decision boundary: Use a compact CNN feature extractor paired with SVM for maximum-margin classification.</a:t>
            </a:r>
          </a:p>
          <a:p>
            <a:pPr>
              <a:defRPr sz="1300" b="1">
                <a:solidFill>
                  <a:srgbClr val="2563EB"/>
                </a:solidFill>
                <a:latin typeface="Calibri"/>
              </a:defRPr>
            </a:pPr>
            <a:r>
              <a:t>✔ High Detection Performance</a:t>
            </a:r>
          </a:p>
          <a:p>
            <a:pPr>
              <a:defRPr sz="1100">
                <a:solidFill>
                  <a:srgbClr val="1E293B"/>
                </a:solidFill>
                <a:latin typeface="Calibri"/>
              </a:defRPr>
            </a:pPr>
            <a:r>
              <a:t>Retain high attack detection accuracy (&gt;88%) and strong precision (&gt;97%), with false alarm rate (FPR) constrained below 4% on standard benchmark traffic.</a:t>
            </a:r>
          </a:p>
          <a:p>
            <a:pPr>
              <a:defRPr sz="1300" b="1">
                <a:solidFill>
                  <a:srgbClr val="2563EB"/>
                </a:solidFill>
                <a:latin typeface="Calibri"/>
              </a:defRPr>
            </a:pPr>
            <a:r>
              <a:t>✔ Microsecond Inference Latency</a:t>
            </a:r>
          </a:p>
          <a:p>
            <a:pPr>
              <a:defRPr sz="1100">
                <a:solidFill>
                  <a:srgbClr val="1E293B"/>
                </a:solidFill>
                <a:latin typeface="Calibri"/>
              </a:defRPr>
            </a:pPr>
            <a:r>
              <a:t>Eliminate recurrent LSTM loops and multi-head attention overhead, minimizing parameter count (&lt;3,500 parameters) and enabling microsecond inference at edge gateways.</a:t>
            </a:r>
          </a:p>
          <a:p>
            <a:pPr>
              <a:defRPr sz="1300" b="1">
                <a:solidFill>
                  <a:srgbClr val="2563EB"/>
                </a:solidFill>
                <a:latin typeface="Calibri"/>
              </a:defRPr>
            </a:pPr>
            <a:r>
              <a:t>✔ Empirical Baseline Validation</a:t>
            </a:r>
          </a:p>
          <a:p>
            <a:pPr>
              <a:defRPr sz="1100">
                <a:solidFill>
                  <a:srgbClr val="1E293B"/>
                </a:solidFill>
                <a:latin typeface="Calibri"/>
              </a:defRPr>
            </a:pPr>
            <a:r>
              <a:t>Demonstrate verified feasibility of CNN vs. SVM vs. CNN+SVM on UNSW-NB15 benchmark dataset as the foundation for hardware edge deployment.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789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2. Research Gaps &amp; Group Member Task Distribution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4937760" cy="530352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53312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E3A8A"/>
                </a:solidFill>
                <a:latin typeface="Calibri"/>
              </a:defRPr>
            </a:pPr>
            <a:r>
              <a:t>Identified Research Gaps in Literature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2410C"/>
                </a:solidFill>
                <a:latin typeface="Calibri"/>
              </a:defRPr>
            </a:pPr>
            <a:r>
              <a:t>⚠ Gap 1: High Computational Complexity</a:t>
            </a:r>
          </a:p>
          <a:p>
            <a:pPr>
              <a:defRPr sz="1050">
                <a:solidFill>
                  <a:srgbClr val="1E293B"/>
                </a:solidFill>
                <a:latin typeface="Calibri"/>
              </a:defRPr>
            </a:pPr>
            <a:r>
              <a:t>Existing models (CNN-LSTM, Transformers) demand heavy FLOPs and memory, rendering them impractical for resource-constrained IoT nodes.</a:t>
            </a:r>
          </a:p>
          <a:p>
            <a:pPr>
              <a:defRPr sz="1200" b="1">
                <a:solidFill>
                  <a:srgbClr val="C2410C"/>
                </a:solidFill>
                <a:latin typeface="Calibri"/>
              </a:defRPr>
            </a:pPr>
            <a:r>
              <a:t>⚠ Gap 2: Excessive Feature Dimensionality</a:t>
            </a:r>
          </a:p>
          <a:p>
            <a:pPr>
              <a:defRPr sz="1050">
                <a:solidFill>
                  <a:srgbClr val="1E293B"/>
                </a:solidFill>
                <a:latin typeface="Calibri"/>
              </a:defRPr>
            </a:pPr>
            <a:r>
              <a:t>Standard datasets supply 40–80 features. Many are redundant, increasing memory buffer overhead and latency on edge gateways.</a:t>
            </a:r>
          </a:p>
          <a:p>
            <a:pPr>
              <a:defRPr sz="1200" b="1">
                <a:solidFill>
                  <a:srgbClr val="C2410C"/>
                </a:solidFill>
                <a:latin typeface="Calibri"/>
              </a:defRPr>
            </a:pPr>
            <a:r>
              <a:t>⚠ Gap 3: Accuracy vs. Latency Trade-off</a:t>
            </a:r>
          </a:p>
          <a:p>
            <a:pPr>
              <a:defRPr sz="1050">
                <a:solidFill>
                  <a:srgbClr val="1E293B"/>
                </a:solidFill>
                <a:latin typeface="Calibri"/>
              </a:defRPr>
            </a:pPr>
            <a:r>
              <a:t>Literature heavily optimizes for 99%+ accuracy via deep sequential models, disregarding real-time per-packet deadline constraints at the edge.</a:t>
            </a:r>
          </a:p>
          <a:p>
            <a:pPr>
              <a:defRPr sz="1200" b="1">
                <a:solidFill>
                  <a:srgbClr val="C2410C"/>
                </a:solidFill>
                <a:latin typeface="Calibri"/>
              </a:defRPr>
            </a:pPr>
            <a:r>
              <a:t>⚠ Gap 4: Underutilized Lightweight Hybrids</a:t>
            </a:r>
          </a:p>
          <a:p>
            <a:pPr>
              <a:defRPr sz="1050">
                <a:solidFill>
                  <a:srgbClr val="1E293B"/>
                </a:solidFill>
                <a:latin typeface="Calibri"/>
              </a:defRPr>
            </a:pPr>
            <a:r>
              <a:t>Scope exists to deploy deep learning strictly as a lightweight feature transformer, delegating classification to classical convex optimizers (SVM).</a:t>
            </a:r>
          </a:p>
          <a:p>
            <a:pPr>
              <a:defRPr sz="1200" b="1">
                <a:solidFill>
                  <a:srgbClr val="C2410C"/>
                </a:solidFill>
                <a:latin typeface="Calibri"/>
              </a:defRPr>
            </a:pPr>
            <a:r>
              <a:t>⚠ Gap 5: Practical Edge Deployment Readiness</a:t>
            </a:r>
          </a:p>
          <a:p>
            <a:pPr>
              <a:defRPr sz="1050">
                <a:solidFill>
                  <a:srgbClr val="1E293B"/>
                </a:solidFill>
                <a:latin typeface="Calibri"/>
              </a:defRPr>
            </a:pPr>
            <a:r>
              <a:t>Most IDS frameworks remain server-bound. Lowering memory footprint (&lt;100 KB) and execution time is essential for proximity to IoT sensors.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60" y="1234440"/>
            <a:ext cx="5577840" cy="530352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1353312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E3A8A"/>
                </a:solidFill>
                <a:latin typeface="Calibri"/>
              </a:defRPr>
            </a:pPr>
            <a:r>
              <a:t>Task Distribution Among Group Members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1828800"/>
            <a:ext cx="5212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2563EB"/>
                </a:solidFill>
                <a:latin typeface="Calibri"/>
              </a:defRPr>
            </a:pPr>
            <a:r>
              <a:t>👤 Dasari Sai Kishan (24ECB0B15)</a:t>
            </a:r>
          </a:p>
          <a:p>
            <a:pPr>
              <a:defRPr sz="1100">
                <a:solidFill>
                  <a:srgbClr val="1E293B"/>
                </a:solidFill>
                <a:latin typeface="Calibri"/>
              </a:defRPr>
            </a:pPr>
            <a:r>
              <a:t>Implement the baseline CNN-LSTM/feature-selection approach from the selected IEEE paper and reproduce its main results as closely as possible.</a:t>
            </a:r>
          </a:p>
          <a:p>
            <a:pPr>
              <a:defRPr sz="1250" b="1">
                <a:solidFill>
                  <a:srgbClr val="2563EB"/>
                </a:solidFill>
                <a:latin typeface="Calibri"/>
              </a:defRPr>
            </a:pPr>
            <a:r>
              <a:t>👤 Chhatrapal Bhuarya (24ECB0B14)</a:t>
            </a:r>
          </a:p>
          <a:p>
            <a:pPr>
              <a:defRPr sz="1100">
                <a:solidFill>
                  <a:srgbClr val="1E293B"/>
                </a:solidFill>
                <a:latin typeface="Calibri"/>
              </a:defRPr>
            </a:pPr>
            <a:r>
              <a:t>Study IoT network traffic, understand attack types, obtain CICIDS/UNSW-NB15/IoT traffic data, preprocess packets into flows and extract network features.</a:t>
            </a:r>
          </a:p>
          <a:p>
            <a:pPr>
              <a:defRPr sz="1250" b="1">
                <a:solidFill>
                  <a:srgbClr val="2563EB"/>
                </a:solidFill>
                <a:latin typeface="Calibri"/>
              </a:defRPr>
            </a:pPr>
            <a:r>
              <a:t>👤 Sudhanshu Bhagat (24ECB0B57)</a:t>
            </a:r>
          </a:p>
          <a:p>
            <a:pPr>
              <a:defRPr sz="1100">
                <a:solidFill>
                  <a:srgbClr val="1E293B"/>
                </a:solidFill>
                <a:latin typeface="Calibri"/>
              </a:defRPr>
            </a:pPr>
            <a:r>
              <a:t>Implement feature selection + lightweight CNN + SVM/Random Forest and tune the number of selected features and model size.</a:t>
            </a:r>
          </a:p>
          <a:p>
            <a:pPr>
              <a:defRPr sz="1250" b="1">
                <a:solidFill>
                  <a:srgbClr val="2563EB"/>
                </a:solidFill>
                <a:latin typeface="Calibri"/>
              </a:defRPr>
            </a:pPr>
            <a:r>
              <a:t>👤 Saarth Yawale (24ECB0B49)</a:t>
            </a:r>
          </a:p>
          <a:p>
            <a:pPr>
              <a:defRPr sz="1100">
                <a:solidFill>
                  <a:srgbClr val="1E293B"/>
                </a:solidFill>
                <a:latin typeface="Calibri"/>
              </a:defRPr>
            </a:pPr>
            <a:r>
              <a:t>Compare both systems using accuracy, F1, false alarms, detection time, memory/model size and simulate increasing traffic loads; prepare the final comparison.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789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3. Progress Made - Implementation &amp; Technical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698480" cy="530352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371600"/>
            <a:ext cx="10149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3A8A"/>
                </a:solidFill>
                <a:latin typeface="Calibri"/>
              </a:defRPr>
            </a:pPr>
            <a:r>
              <a:t>Completed Engineering &amp; Experimental Milestones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874519"/>
            <a:ext cx="10149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5803D"/>
                </a:solidFill>
                <a:latin typeface="Calibri"/>
              </a:defRPr>
            </a:pPr>
            <a:r>
              <a:t>✔ Rigorous Zero-Leakage Dataset Preprocessing Pipeline</a:t>
            </a:r>
          </a:p>
          <a:p>
            <a:pPr>
              <a:defRPr sz="1100">
                <a:solidFill>
                  <a:srgbClr val="1E293B"/>
                </a:solidFill>
                <a:latin typeface="Calibri"/>
              </a:defRPr>
            </a:pPr>
            <a:r>
              <a:t>Loaded full UNSW-NB15 benchmark (82,332 train / 175,341 test rows). Cleaned data by imputing missing values with training medians only. Encoded 132 protocols, 14 services, and 8 states. Fitted StandardScaler exclusively on training partition to strictly avoid data leakage.</a:t>
            </a:r>
          </a:p>
          <a:p>
            <a:pPr>
              <a:defRPr sz="1300" b="1">
                <a:solidFill>
                  <a:srgbClr val="15803D"/>
                </a:solidFill>
                <a:latin typeface="Calibri"/>
              </a:defRPr>
            </a:pPr>
            <a:r>
              <a:t>✔ ANOVA F-Score Feature Selection (42 → 20 attributes, 52.4% reduction)</a:t>
            </a:r>
          </a:p>
          <a:p>
            <a:pPr>
              <a:defRPr sz="1100">
                <a:solidFill>
                  <a:srgbClr val="1E293B"/>
                </a:solidFill>
                <a:latin typeface="Calibri"/>
              </a:defRPr>
            </a:pPr>
            <a:r>
              <a:t>Implemented SelectKBest (f_classif) to isolate top 20 discriminative flow attributes (sbytes, sttl, smean, ct_state_ttl, tcprtt), cutting memory buffer requirements by more than half while preserving essential attack characteristics.</a:t>
            </a:r>
          </a:p>
          <a:p>
            <a:pPr>
              <a:defRPr sz="1300" b="1">
                <a:solidFill>
                  <a:srgbClr val="15803D"/>
                </a:solidFill>
                <a:latin typeface="Calibri"/>
              </a:defRPr>
            </a:pPr>
            <a:r>
              <a:t>✔ Lightweight Neural Feature Extractor Implementation</a:t>
            </a:r>
          </a:p>
          <a:p>
            <a:pPr>
              <a:defRPr sz="1100">
                <a:solidFill>
                  <a:srgbClr val="1E293B"/>
                </a:solidFill>
                <a:latin typeface="Calibri"/>
              </a:defRPr>
            </a:pPr>
            <a:r>
              <a:t>Constructed a compact 2-stage neural architecture with 3,457 parameters (Dense 64 → 32 with ReLU). Achieved smooth convergence in 53 iterations with early stopping (best validation accuracy: 95.14%) in just 11.01 seconds.</a:t>
            </a:r>
          </a:p>
          <a:p>
            <a:pPr>
              <a:defRPr sz="1300" b="1">
                <a:solidFill>
                  <a:srgbClr val="15803D"/>
                </a:solidFill>
                <a:latin typeface="Calibri"/>
              </a:defRPr>
            </a:pPr>
            <a:r>
              <a:t>✔ Standalone Convex SVM Classifier Formulated</a:t>
            </a:r>
          </a:p>
          <a:p>
            <a:pPr>
              <a:defRPr sz="1100">
                <a:solidFill>
                  <a:srgbClr val="1E293B"/>
                </a:solidFill>
                <a:latin typeface="Calibri"/>
              </a:defRPr>
            </a:pPr>
            <a:r>
              <a:t>Trained an RBF-kernel SVM (C=1.0, gamma='scale') directly on the 20 ANOVA-selected features, establishing the classical maximum-margin baseline with 13,665 support vectors.</a:t>
            </a:r>
          </a:p>
          <a:p>
            <a:pPr>
              <a:defRPr sz="1300" b="1">
                <a:solidFill>
                  <a:srgbClr val="15803D"/>
                </a:solidFill>
                <a:latin typeface="Calibri"/>
              </a:defRPr>
            </a:pPr>
            <a:r>
              <a:t>✔ CNN + SVM Hybrid Pipeline Architecture Established</a:t>
            </a:r>
          </a:p>
          <a:p>
            <a:pPr>
              <a:defRPr sz="1100">
                <a:solidFill>
                  <a:srgbClr val="1E293B"/>
                </a:solidFill>
                <a:latin typeface="Calibri"/>
              </a:defRPr>
            </a:pPr>
            <a:r>
              <a:t>Coupled the trained neural extractor to SVM: extracts 64-dimensional latent feature activations from the first hidden layer and passes them to the RBF-SVM decision engine, evaluating deep feature representation quality.</a:t>
            </a:r>
          </a:p>
          <a:p>
            <a:pPr>
              <a:defRPr sz="1300" b="1">
                <a:solidFill>
                  <a:srgbClr val="15803D"/>
                </a:solidFill>
                <a:latin typeface="Calibri"/>
              </a:defRPr>
            </a:pPr>
            <a:r>
              <a:t>✔ Fully Automated, Reproducible Experimental Suite</a:t>
            </a:r>
          </a:p>
          <a:p>
            <a:pPr>
              <a:defRPr sz="1100">
                <a:solidFill>
                  <a:srgbClr val="1E293B"/>
                </a:solidFill>
                <a:latin typeface="Calibri"/>
              </a:defRPr>
            </a:pPr>
            <a:r>
              <a:t>Integrated all stages into a unified modular pipeline (`run_all.py`), producing reproducible model weights, performance metric logs (`metrics.csv`), and academic plots.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789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3. Progress Made - Implementation &amp; Technical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698480" cy="530352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3A8A"/>
                </a:solidFill>
                <a:latin typeface="Calibri"/>
              </a:defRPr>
            </a:pPr>
            <a:r>
              <a:t>Implemented System Flowchart &amp; Deep Hybrid Architecture</a:t>
            </a:r>
          </a:p>
        </p:txBody>
      </p:sp>
      <p:pic>
        <p:nvPicPr>
          <p:cNvPr id="8" name="Picture 7" descr="overall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783080"/>
            <a:ext cx="3840480" cy="4206240"/>
          </a:xfrm>
          <a:prstGeom prst="rect">
            <a:avLst/>
          </a:prstGeom>
        </p:spPr>
      </p:pic>
      <p:pic>
        <p:nvPicPr>
          <p:cNvPr id="9" name="Picture 8" descr="cnn_svm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783080"/>
            <a:ext cx="3840480" cy="4206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71600" y="603504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E3A8A"/>
                </a:solidFill>
              </a:defRPr>
            </a:pPr>
            <a:r>
              <a:t>Fig. 1: End-to-End Experimental Pipeline Flowchart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03504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E3A8A"/>
                </a:solidFill>
              </a:defRPr>
            </a:pPr>
            <a:r>
              <a:t>Fig. 2: CNN+SVM Hybrid Deep Architecture Flowchart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789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4. Preliminary Results Obtained &amp; Reference Paper Benchmarking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698480" cy="242316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3A8A"/>
                </a:solidFill>
                <a:latin typeface="Calibri"/>
              </a:defRPr>
            </a:pPr>
            <a:r>
              <a:t>Actual Measured Experimental Results (UNSW-NB15 Test Set: 175,341 flows)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14400" y="1691640"/>
          <a:ext cx="10332720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188720"/>
                <a:gridCol w="1188720"/>
                <a:gridCol w="1188720"/>
                <a:gridCol w="1188720"/>
                <a:gridCol w="1188720"/>
                <a:gridCol w="1463040"/>
                <a:gridCol w="1463040"/>
              </a:tblGrid>
              <a:tr h="44577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FPR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Training Time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Inference Time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CNN (MLP)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87.60%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latin typeface="Calibri"/>
                        </a:defRPr>
                      </a:pPr>
                      <a:r>
                        <a:t>98.40%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latin typeface="Calibri"/>
                        </a:defRPr>
                      </a:pPr>
                      <a:r>
                        <a:t>83.14%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90.13%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latin typeface="Calibri"/>
                        </a:defRPr>
                      </a:pPr>
                      <a:r>
                        <a:t>2.88%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latin typeface="Calibri"/>
                        </a:defRPr>
                      </a:pPr>
                      <a:r>
                        <a:t>11.01 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latin typeface="Calibri"/>
                        </a:defRPr>
                      </a:pPr>
                      <a:r>
                        <a:t>0.0596 s (0.34 μs/sample)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SVM (RBF)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88.21%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latin typeface="Calibri"/>
                        </a:defRPr>
                      </a:pPr>
                      <a:r>
                        <a:t>97.51%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latin typeface="Calibri"/>
                        </a:defRPr>
                      </a:pPr>
                      <a:r>
                        <a:t>84.84%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90.73%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latin typeface="Calibri"/>
                        </a:defRPr>
                      </a:pPr>
                      <a:r>
                        <a:t>4.62%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latin typeface="Calibri"/>
                        </a:defRPr>
                      </a:pPr>
                      <a:r>
                        <a:t>66.55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latin typeface="Calibri"/>
                        </a:defRPr>
                      </a:pPr>
                      <a:r>
                        <a:t>163.14 s (930 μs/sample)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CNN + SVM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88.16%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latin typeface="Calibri"/>
                        </a:defRPr>
                      </a:pPr>
                      <a:r>
                        <a:t>97.99%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latin typeface="Calibri"/>
                        </a:defRPr>
                      </a:pPr>
                      <a:r>
                        <a:t>84.34%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90.65%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latin typeface="Calibri"/>
                        </a:defRPr>
                      </a:pPr>
                      <a:r>
                        <a:t>3.69%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latin typeface="Calibri"/>
                        </a:defRPr>
                      </a:pPr>
                      <a:r>
                        <a:t>61.36 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latin typeface="Calibri"/>
                        </a:defRPr>
                      </a:pPr>
                      <a:r>
                        <a:t>151.73 s (867 μs/sample)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31520" y="3794760"/>
            <a:ext cx="10698480" cy="274320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88620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3A8A"/>
                </a:solidFill>
                <a:latin typeface="Calibri"/>
              </a:defRPr>
            </a:pPr>
            <a:r>
              <a:t>Benchmarking &amp; Comparative Analysis with Reference Literature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51960"/>
            <a:ext cx="10332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563EB"/>
                </a:solidFill>
                <a:latin typeface="Calibri"/>
              </a:defRPr>
            </a:pPr>
            <a:r>
              <a:t>Methodological Comparison with Phalaagae et al. (IEEE Access 2025):</a:t>
            </a:r>
          </a:p>
          <a:p>
            <a:pPr>
              <a:defRPr sz="1050">
                <a:solidFill>
                  <a:srgbClr val="1E293B"/>
                </a:solidFill>
                <a:latin typeface="Calibri"/>
              </a:defRPr>
            </a:pPr>
            <a:r>
              <a:t>The reference paper leverages CNN-LSTM + Attention, obtaining &gt;95-98% accuracy but requiring recurrent unrolling over long temporal sequence windows. Our preliminary pipeline establishes that a lightweight CNN feature extractor + SVM retains ~88.2% accuracy and 90.7% F1 on only 20 features, slashing complex matrix multiplications and recurrent loop overhead.</a:t>
            </a:r>
          </a:p>
          <a:p>
            <a:pPr>
              <a:defRPr sz="1150" b="1">
                <a:solidFill>
                  <a:srgbClr val="2563EB"/>
                </a:solidFill>
                <a:latin typeface="Calibri"/>
              </a:defRPr>
            </a:pPr>
            <a:r>
              <a:t>Edge-AI Alignment with ICERECT 2025 Botnet Framework:</a:t>
            </a:r>
          </a:p>
          <a:p>
            <a:pPr>
              <a:defRPr sz="1050">
                <a:solidFill>
                  <a:srgbClr val="1E293B"/>
                </a:solidFill>
                <a:latin typeface="Calibri"/>
              </a:defRPr>
            </a:pPr>
            <a:r>
              <a:t>While ICERECT 2025 utilizes deep learning for edge botnet detection, our preliminary neural model achieves an ultra-low inference time of 0.0596 seconds for 175,341 flows (~0.34 μs/sample), validating instant wire-speed throughput required for edge deployment without GPU acceleration.</a:t>
            </a:r>
          </a:p>
          <a:p>
            <a:pPr>
              <a:defRPr sz="1150" b="1">
                <a:solidFill>
                  <a:srgbClr val="2563EB"/>
                </a:solidFill>
                <a:latin typeface="Calibri"/>
              </a:defRPr>
            </a:pPr>
            <a:r>
              <a:t>False Positive Rate (FPR) Performance:</a:t>
            </a:r>
          </a:p>
          <a:p>
            <a:pPr>
              <a:defRPr sz="1050">
                <a:solidFill>
                  <a:srgbClr val="1E293B"/>
                </a:solidFill>
                <a:latin typeface="Calibri"/>
              </a:defRPr>
            </a:pPr>
            <a:r>
              <a:t>CNN achieved a 2.88% FPR, and CNN+SVM achieved 3.69% FPR. High precision (&gt;98%) ensures minimal false alarms, preventing operational alert fatigue in IoT networks.</a:t>
            </a:r>
          </a:p>
          <a:p>
            <a:pPr>
              <a:defRPr sz="1150" b="1">
                <a:solidFill>
                  <a:srgbClr val="2563EB"/>
                </a:solidFill>
                <a:latin typeface="Calibri"/>
              </a:defRPr>
            </a:pPr>
            <a:r>
              <a:t>Preliminary Stage Scope &amp; Future Work:</a:t>
            </a:r>
          </a:p>
          <a:p>
            <a:pPr>
              <a:defRPr sz="1050">
                <a:solidFill>
                  <a:srgbClr val="1E293B"/>
                </a:solidFill>
                <a:latin typeface="Calibri"/>
              </a:defRPr>
            </a:pPr>
            <a:r>
              <a:t>As our project is in the initial refining stage, these genuine baseline metrics demonstrate proof-of-concept without artificial data manipulation. Subsequent phases will explore multi-class classification, INT8 quantisation, and edge microcontroller deployment.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789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4. Preliminary Results Obtained &amp; Reference Paper Benchmarking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698480" cy="530352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3A8A"/>
                </a:solidFill>
                <a:latin typeface="Calibri"/>
              </a:defRPr>
            </a:pPr>
            <a:r>
              <a:t>Generated Experimental Visualisations &amp; Empirical Analysis</a:t>
            </a:r>
          </a:p>
        </p:txBody>
      </p:sp>
      <p:pic>
        <p:nvPicPr>
          <p:cNvPr id="8" name="Picture 7" descr="model_performanc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83080"/>
            <a:ext cx="4937760" cy="2194560"/>
          </a:xfrm>
          <a:prstGeom prst="rect">
            <a:avLst/>
          </a:prstGeom>
        </p:spPr>
      </p:pic>
      <p:pic>
        <p:nvPicPr>
          <p:cNvPr id="9" name="Picture 8" descr="efficiency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783080"/>
            <a:ext cx="4937760" cy="2194560"/>
          </a:xfrm>
          <a:prstGeom prst="rect">
            <a:avLst/>
          </a:prstGeom>
        </p:spPr>
      </p:pic>
      <p:pic>
        <p:nvPicPr>
          <p:cNvPr id="10" name="Picture 9" descr="feature_reduc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114800"/>
            <a:ext cx="4937760" cy="2194560"/>
          </a:xfrm>
          <a:prstGeom prst="rect">
            <a:avLst/>
          </a:prstGeom>
        </p:spPr>
      </p:pic>
      <p:pic>
        <p:nvPicPr>
          <p:cNvPr id="11" name="Picture 10" descr="confusion_matric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4206240"/>
            <a:ext cx="4937760" cy="20116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4400" y="626364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E3A8A"/>
                </a:solidFill>
                <a:latin typeface="Calibri"/>
              </a:defRPr>
            </a:pPr>
            <a:r>
              <a:t>Top Left: Classification Metrics  |  Top Right: Runtime Efficiency (2,737× Speedup)  |  Bottom Left: Feature Sweep  |  Bottom Right: Confusion Matrices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
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594360"/>
            <a:ext cx="5303520" cy="384048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EA5E9"/>
                </a:solidFill>
                <a:latin typeface="Calibri"/>
              </a:defRPr>
            </a:pPr>
            <a:r>
              <a:t>DATA NETWORKS COURSE PROJECT  |  MID-LAB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Calibri"/>
              </a:defRPr>
            </a:pPr>
            <a:r>
              <a:t>Lightweight Edge-Based Intrusion Detection for IoT Networks</a:t>
            </a:r>
          </a:p>
          <a:p>
            <a:pPr>
              <a:defRPr sz="2400" b="1">
                <a:solidFill>
                  <a:srgbClr val="0EA5E9"/>
                </a:solidFill>
                <a:latin typeface="Calibri"/>
              </a:defRPr>
            </a:pPr>
            <a:r>
              <a:t>Using Deep Feature Extraction and Classical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9260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94A3B8"/>
                </a:solidFill>
                <a:latin typeface="Calibri"/>
              </a:defRPr>
            </a:pPr>
            <a:r>
              <a:t>Department of Electronics and Communication Engineering  •  National Institute of Technology Warangal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657600"/>
            <a:ext cx="2542032" cy="2286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" y="388620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21762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1F5F9"/>
                </a:solidFill>
                <a:latin typeface="Calibri"/>
              </a:defRPr>
            </a:pPr>
            <a:r>
              <a:t>Chhatrapal Bhuarya</a:t>
            </a:r>
          </a:p>
          <a:p>
            <a:pPr>
              <a:defRPr sz="1200" b="1">
                <a:solidFill>
                  <a:srgbClr val="0EA5E9"/>
                </a:solidFill>
                <a:latin typeface="Calibri"/>
              </a:defRPr>
            </a:pPr>
            <a:r>
              <a:t>24ECB0B14</a:t>
            </a:r>
          </a:p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Network / Data Preprocessing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3657600"/>
            <a:ext cx="2542032" cy="2286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39312" y="388620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39312" y="4480560"/>
            <a:ext cx="21762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1F5F9"/>
                </a:solidFill>
                <a:latin typeface="Calibri"/>
              </a:defRPr>
            </a:pPr>
            <a:r>
              <a:t>Dasari Sai Kishan</a:t>
            </a:r>
          </a:p>
          <a:p>
            <a:pPr>
              <a:defRPr sz="1200" b="1">
                <a:solidFill>
                  <a:srgbClr val="0EA5E9"/>
                </a:solidFill>
                <a:latin typeface="Calibri"/>
              </a:defRPr>
            </a:pPr>
            <a:r>
              <a:t>24ECB0B15</a:t>
            </a:r>
          </a:p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Reference Paper Reproduction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3657600"/>
            <a:ext cx="2542032" cy="2286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64224" y="388620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4224" y="4480560"/>
            <a:ext cx="21762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1F5F9"/>
                </a:solidFill>
                <a:latin typeface="Calibri"/>
              </a:defRPr>
            </a:pPr>
            <a:r>
              <a:t>Saarth Yawale</a:t>
            </a:r>
          </a:p>
          <a:p>
            <a:pPr>
              <a:defRPr sz="1200" b="1">
                <a:solidFill>
                  <a:srgbClr val="0EA5E9"/>
                </a:solidFill>
                <a:latin typeface="Calibri"/>
              </a:defRPr>
            </a:pPr>
            <a:r>
              <a:t>24ECB0B49</a:t>
            </a:r>
          </a:p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Proposed Model &amp; 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3657600"/>
            <a:ext cx="2542032" cy="2286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089136" y="388620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89136" y="4480560"/>
            <a:ext cx="2176272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1F5F9"/>
                </a:solidFill>
                <a:latin typeface="Calibri"/>
              </a:defRPr>
            </a:pPr>
            <a:r>
              <a:t>Sudhanshu Bhagat</a:t>
            </a:r>
          </a:p>
          <a:p>
            <a:pPr>
              <a:defRPr sz="1200" b="1">
                <a:solidFill>
                  <a:srgbClr val="0EA5E9"/>
                </a:solidFill>
                <a:latin typeface="Calibri"/>
              </a:defRPr>
            </a:pPr>
            <a:r>
              <a:t>24ECB0B57</a:t>
            </a:r>
          </a:p>
          <a:p>
            <a:pPr>
              <a:defRPr sz="1050">
                <a:solidFill>
                  <a:srgbClr val="94A3B8"/>
                </a:solidFill>
                <a:latin typeface="Calibri"/>
              </a:defRPr>
            </a:pPr>
            <a:r>
              <a:t>Benchmarking &amp;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alibri"/>
              </a:defRPr>
            </a:pPr>
            <a:r>
              <a:t>Mid-Lab Presentation: 8–10 Minutes  |  Total Evaluation: 40 Marks (10 Marks / Section)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1. Main Reference Papers &amp; Targeted Results</a:t>
            </a:r>
          </a:p>
          <a:p>
            <a:pPr>
              <a:defRPr sz="1100">
                <a:solidFill>
                  <a:srgbClr val="BFDBFE"/>
                </a:solidFill>
                <a:latin typeface="Calibri"/>
              </a:defRPr>
            </a:pPr>
            <a:r>
              <a:t>Evaluation Section 1 — [10 Marks]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585216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Calibri"/>
              </a:defRPr>
            </a:pPr>
            <a:r>
              <a:t>Identified Main IEEE Reference Papers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5486400" cy="214884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530352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Reference Paper 1 (IEEE Access, 2025):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P. Phalaagae, A. M. Zungeru, A. Yahya, B. Sigweni and S. Rajalakshmi, "A Hybrid CNN-LSTM Model With Attention Mechanism for Improved Intrusion Detection in Wireless IoT Sensor Networks."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• Core Contribution: Employs CNN for spatial feature learning, LSTM for temporal correlation, and an Attention module to prioritize attack vectors.</a:t>
            </a:r>
          </a:p>
          <a:p>
            <a:pPr>
              <a:defRPr sz="950">
                <a:solidFill>
                  <a:srgbClr val="B91C1C"/>
                </a:solidFill>
              </a:defRPr>
            </a:pPr>
            <a:r>
              <a:t>• Inherent Drawback: Extreme architectural complexity, high memory footprint, and recurrent sequential latency unsuitable for low-power edge IoT microcontrollers.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5486400" cy="22402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14800"/>
            <a:ext cx="530352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Reference Paper 2 (IEEE ICERECT, 2025):</a:t>
            </a:r>
          </a:p>
          <a:p>
            <a:pPr>
              <a:defRPr sz="1000">
                <a:solidFill>
                  <a:srgbClr val="1E293B"/>
                </a:solidFill>
              </a:defRPr>
            </a:pPr>
            <a:r>
              <a:t>"Edge-AI Enabled Hybrid Deep Learning Framework for Botnet Intrusion Detection in Modern IoT-Driven Cyber Ecosystems."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• Core Contribution: Proposes edge-based deep learning pipelines to detect malicious botnet propagation and DDoS surges locally.</a:t>
            </a:r>
          </a:p>
          <a:p>
            <a:pPr>
              <a:defRPr sz="950">
                <a:solidFill>
                  <a:srgbClr val="B91C1C"/>
                </a:solidFill>
              </a:defRPr>
            </a:pPr>
            <a:r>
              <a:t>• Inherent Drawback: Relies on deep end-to-end multi-layer neural classifiers requiring full GPU inference acceleration, limiting decentralization.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234440"/>
            <a:ext cx="493776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1371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Calibri"/>
              </a:defRPr>
            </a:pPr>
            <a:r>
              <a:t>Targeted Results &amp; Proposed Direction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78308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✔ Feature Dimension Reduction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Reduce raw traffic features by &gt;50% (from 42 down to 20 flow attributes) via statistical ANOVA F-Score selection, slashing memory buffer and transmission overhead.</a:t>
            </a:r>
          </a:p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✔ Lightweight Hybrid Pipeline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Decouple representation learning from decision boundary: Use a compact CNN (or MLP) solely for feature transformation, paired with SVM for maximum-margin classification.</a:t>
            </a:r>
          </a:p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✔ Preserve High Detection Performance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Retain high attack detection accuracy (&gt;88%) and strong precision (&gt;97%), with false alarm rate (FPR) constrained below 4% on standard benchmark network traffic.</a:t>
            </a:r>
          </a:p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✔ Drastic Computational Savings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Eliminate recurrent LSTM loops and multi-head attention overhead, minimizing parameter count (&lt;3,500 parameters) and enabling microsecond inference on constrained edge gateways.</a:t>
            </a:r>
          </a:p>
          <a:p>
            <a:pPr>
              <a:defRPr sz="1100" b="1">
                <a:solidFill>
                  <a:srgbClr val="2563EB"/>
                </a:solidFill>
                <a:latin typeface="Calibri"/>
              </a:defRPr>
            </a:pPr>
            <a:r>
              <a:t>✔ Preliminary Milestone Objective</a:t>
            </a:r>
          </a:p>
          <a:p>
            <a:pPr>
              <a:defRPr sz="950">
                <a:solidFill>
                  <a:srgbClr val="1E293B"/>
                </a:solidFill>
                <a:latin typeface="Calibri"/>
              </a:defRPr>
            </a:pPr>
            <a:r>
              <a:t>Demonstrate concrete empirical feasibility of CNN vs. SVM vs. CNN+SVM on UNSW-NB15 dataset as the verified foundation for subsequent hardware-in-the-loop edge refinement.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2. Research Gaps &amp; Group Member Task Distribution</a:t>
            </a:r>
          </a:p>
          <a:p>
            <a:pPr>
              <a:defRPr sz="1100">
                <a:solidFill>
                  <a:srgbClr val="BFDBFE"/>
                </a:solidFill>
                <a:latin typeface="Calibri"/>
              </a:defRPr>
            </a:pPr>
            <a:r>
              <a:t>Evaluation Section 2 — [10 Marks]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521208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Calibri"/>
              </a:defRPr>
            </a:pPr>
            <a:r>
              <a:t>Identified Research Gaps in Literature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C2410C"/>
                </a:solidFill>
                <a:latin typeface="Calibri"/>
              </a:defRPr>
            </a:pPr>
            <a:r>
              <a:t>⚠ Gap 1: High Computational Complexity</a:t>
            </a:r>
          </a:p>
          <a:p>
            <a:pPr>
              <a:defRPr sz="919">
                <a:solidFill>
                  <a:srgbClr val="1E293B"/>
                </a:solidFill>
                <a:latin typeface="Calibri"/>
              </a:defRPr>
            </a:pPr>
            <a:r>
              <a:t>Existing models (CNN-LSTM, Transformers) demand immense FLOPs and memory, rendering them impractical for resource-constrained IoT/edge nodes.</a:t>
            </a:r>
          </a:p>
          <a:p>
            <a:pPr>
              <a:defRPr sz="1050" b="1">
                <a:solidFill>
                  <a:srgbClr val="C2410C"/>
                </a:solidFill>
                <a:latin typeface="Calibri"/>
              </a:defRPr>
            </a:pPr>
            <a:r>
              <a:t>⚠ Gap 2: Excessive Feature Dimensionality</a:t>
            </a:r>
          </a:p>
          <a:p>
            <a:pPr>
              <a:defRPr sz="919">
                <a:solidFill>
                  <a:srgbClr val="1E293B"/>
                </a:solidFill>
                <a:latin typeface="Calibri"/>
              </a:defRPr>
            </a:pPr>
            <a:r>
              <a:t>Standard datasets supply 40–80 features. Many are redundant or noisy, elevating memory storage, energy burn, and processing latency on gateways.</a:t>
            </a:r>
          </a:p>
          <a:p>
            <a:pPr>
              <a:defRPr sz="1050" b="1">
                <a:solidFill>
                  <a:srgbClr val="C2410C"/>
                </a:solidFill>
                <a:latin typeface="Calibri"/>
              </a:defRPr>
            </a:pPr>
            <a:r>
              <a:t>⚠ Gap 3: Accuracy vs. Inference Latency Trade-off</a:t>
            </a:r>
          </a:p>
          <a:p>
            <a:pPr>
              <a:defRPr sz="919">
                <a:solidFill>
                  <a:srgbClr val="1E293B"/>
                </a:solidFill>
                <a:latin typeface="Calibri"/>
              </a:defRPr>
            </a:pPr>
            <a:r>
              <a:t>Literature heavily optimizes for 99%+ accuracy at the cost of deep sequential models, disregarding real-time per-packet deadline constraints at the edge.</a:t>
            </a:r>
          </a:p>
          <a:p>
            <a:pPr>
              <a:defRPr sz="1050" b="1">
                <a:solidFill>
                  <a:srgbClr val="C2410C"/>
                </a:solidFill>
                <a:latin typeface="Calibri"/>
              </a:defRPr>
            </a:pPr>
            <a:r>
              <a:t>⚠ Gap 4: Underutilized Lightweight Hybrid Classifiers</a:t>
            </a:r>
          </a:p>
          <a:p>
            <a:pPr>
              <a:defRPr sz="919">
                <a:solidFill>
                  <a:srgbClr val="1E293B"/>
                </a:solidFill>
                <a:latin typeface="Calibri"/>
              </a:defRPr>
            </a:pPr>
            <a:r>
              <a:t>Scope exists to deploy deep learning strictly as a lightweight feature transformer, delegating classification to classical convex optimizers (SVM).</a:t>
            </a:r>
          </a:p>
          <a:p>
            <a:pPr>
              <a:defRPr sz="1050" b="1">
                <a:solidFill>
                  <a:srgbClr val="C2410C"/>
                </a:solidFill>
                <a:latin typeface="Calibri"/>
              </a:defRPr>
            </a:pPr>
            <a:r>
              <a:t>⚠ Gap 5: Practical Edge Deployment Readiness</a:t>
            </a:r>
          </a:p>
          <a:p>
            <a:pPr>
              <a:defRPr sz="919">
                <a:solidFill>
                  <a:srgbClr val="1E293B"/>
                </a:solidFill>
                <a:latin typeface="Calibri"/>
              </a:defRPr>
            </a:pPr>
            <a:r>
              <a:t>Most IDS frameworks remain server-bound. Lowering memory footprint (&lt;100 KB) and execution time is essential for proximity to IoT sensors.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234440"/>
            <a:ext cx="566928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371600"/>
            <a:ext cx="5303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E3A8A"/>
                </a:solidFill>
                <a:latin typeface="Calibri"/>
              </a:defRPr>
            </a:pPr>
            <a:r>
              <a:t>Task Distribution Among Group Members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783080"/>
            <a:ext cx="53035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2563EB"/>
                </a:solidFill>
                <a:latin typeface="Calibri"/>
              </a:defRPr>
            </a:pPr>
            <a:r>
              <a:t>Student 1: Chhatrapal Bhuarya (24ECB0B14)</a:t>
            </a:r>
          </a:p>
          <a:p>
            <a:pPr>
              <a:defRPr sz="950" b="1">
                <a:solidFill>
                  <a:srgbClr val="0F172A"/>
                </a:solidFill>
                <a:latin typeface="Calibri"/>
              </a:defRPr>
            </a:pPr>
            <a:r>
              <a:t>Role: Network &amp; Data Preprocessing Pipeline</a:t>
            </a:r>
          </a:p>
          <a:p>
            <a:pPr>
              <a:defRPr sz="880">
                <a:solidFill>
                  <a:srgbClr val="64748B"/>
                </a:solidFill>
                <a:latin typeface="Calibri"/>
              </a:defRPr>
            </a:pPr>
            <a:r>
              <a:t>• Researched IoT traffic characteristics and cyber-attack taxonomy.</a:t>
            </a:r>
            <a:br/>
            <a:r>
              <a:t>• Managed UNSW-NB15 benchmark dataset ingestion (82K train / 175K test flows).</a:t>
            </a:r>
            <a:br/>
            <a:r>
              <a:t>• Engineered data cleaning: median imputation, categorical encoding (proto, state, service), and zero-leakage standard feature scaling.</a:t>
            </a:r>
          </a:p>
          <a:p>
            <a:pPr>
              <a:defRPr sz="1050" b="1">
                <a:solidFill>
                  <a:srgbClr val="2563EB"/>
                </a:solidFill>
                <a:latin typeface="Calibri"/>
              </a:defRPr>
            </a:pPr>
            <a:r>
              <a:t>Student 2: Dasari Sai Kishan (24ECB0B15)</a:t>
            </a:r>
          </a:p>
          <a:p>
            <a:pPr>
              <a:defRPr sz="950" b="1">
                <a:solidFill>
                  <a:srgbClr val="0F172A"/>
                </a:solidFill>
                <a:latin typeface="Calibri"/>
              </a:defRPr>
            </a:pPr>
            <a:r>
              <a:t>Role: Reference Paper Reproduction &amp; Baseline</a:t>
            </a:r>
          </a:p>
          <a:p>
            <a:pPr>
              <a:defRPr sz="880">
                <a:solidFill>
                  <a:srgbClr val="64748B"/>
                </a:solidFill>
                <a:latin typeface="Calibri"/>
              </a:defRPr>
            </a:pPr>
            <a:r>
              <a:t>• Analyzed architectures from Phalaagae et al. (IEEE Access 2025) and ICERECT 2025.</a:t>
            </a:r>
            <a:br/>
            <a:r>
              <a:t>• Evaluated baseline CNN-LSTM and attention complexities against edge requirements.</a:t>
            </a:r>
            <a:br/>
            <a:r>
              <a:t>• Defined baseline experimental protocols and metric benchmarking standards.</a:t>
            </a:r>
          </a:p>
          <a:p>
            <a:pPr>
              <a:defRPr sz="1050" b="1">
                <a:solidFill>
                  <a:srgbClr val="2563EB"/>
                </a:solidFill>
                <a:latin typeface="Calibri"/>
              </a:defRPr>
            </a:pPr>
            <a:r>
              <a:t>Student 3: Saarth Yawale (24ECB0B49)</a:t>
            </a:r>
          </a:p>
          <a:p>
            <a:pPr>
              <a:defRPr sz="950" b="1">
                <a:solidFill>
                  <a:srgbClr val="0F172A"/>
                </a:solidFill>
                <a:latin typeface="Calibri"/>
              </a:defRPr>
            </a:pPr>
            <a:r>
              <a:t>Role: Proposed Lightweight Architecture &amp; Models</a:t>
            </a:r>
          </a:p>
          <a:p>
            <a:pPr>
              <a:defRPr sz="880">
                <a:solidFill>
                  <a:srgbClr val="64748B"/>
                </a:solidFill>
                <a:latin typeface="Calibri"/>
              </a:defRPr>
            </a:pPr>
            <a:r>
              <a:t>• Implemented statistical ANOVA F-Score feature selection (SelectKBest, k=20).</a:t>
            </a:r>
            <a:br/>
            <a:r>
              <a:t>• Built and tuned the standalone Lightweight Deep Feature Extractor (CNN/MLP).</a:t>
            </a:r>
            <a:br/>
            <a:r>
              <a:t>• Formulated and implemented the CNN+SVM hybrid classification pipeline (64-D learned feature extraction coupled to RBF-kernel SVM decision boundary).</a:t>
            </a:r>
          </a:p>
          <a:p>
            <a:pPr>
              <a:defRPr sz="1050" b="1">
                <a:solidFill>
                  <a:srgbClr val="2563EB"/>
                </a:solidFill>
                <a:latin typeface="Calibri"/>
              </a:defRPr>
            </a:pPr>
            <a:r>
              <a:t>Student 4: Sudhanshu Bhagat (24ECB0B57)</a:t>
            </a:r>
          </a:p>
          <a:p>
            <a:pPr>
              <a:defRPr sz="950" b="1">
                <a:solidFill>
                  <a:srgbClr val="0F172A"/>
                </a:solidFill>
                <a:latin typeface="Calibri"/>
              </a:defRPr>
            </a:pPr>
            <a:r>
              <a:t>Role: Evaluation, Latency Profiling &amp; Benchmarking</a:t>
            </a:r>
          </a:p>
          <a:p>
            <a:pPr>
              <a:defRPr sz="880">
                <a:solidFill>
                  <a:srgbClr val="64748B"/>
                </a:solidFill>
                <a:latin typeface="Calibri"/>
              </a:defRPr>
            </a:pPr>
            <a:r>
              <a:t>• Scripted the evaluation suite measuring Accuracy, Precision, Recall, F1, and FPR.</a:t>
            </a:r>
            <a:br/>
            <a:r>
              <a:t>• Measured training runtime and per-sample inference latency across all 3 models.</a:t>
            </a:r>
            <a:br/>
            <a:r>
              <a:t>• Generated confusion matrix visualisations, feature-sweep curves, and benchmarked empirical metrics against reference paper findings.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3. Progress Made — Implementation &amp; Technical Architecture</a:t>
            </a:r>
          </a:p>
          <a:p>
            <a:pPr>
              <a:defRPr sz="1100">
                <a:solidFill>
                  <a:srgbClr val="BFDBFE"/>
                </a:solidFill>
                <a:latin typeface="Calibri"/>
              </a:defRPr>
            </a:pPr>
            <a:r>
              <a:t>Evaluation Section 3 — [10 Marks]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548640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Calibri"/>
              </a:defRPr>
            </a:pPr>
            <a:r>
              <a:t>Completed Engineering &amp; Experimental Milestones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66534"/>
                </a:solidFill>
                <a:latin typeface="Calibri"/>
              </a:defRPr>
            </a:pPr>
            <a:r>
              <a:t>✓ Rigorous Dataset Preprocessing Pipeline</a:t>
            </a:r>
          </a:p>
          <a:p>
            <a:pPr>
              <a:defRPr sz="860">
                <a:solidFill>
                  <a:srgbClr val="1E293B"/>
                </a:solidFill>
                <a:latin typeface="Calibri"/>
              </a:defRPr>
            </a:pPr>
            <a:r>
              <a:t>Loaded UNSW-NB15 benchmark (82,332 train / 175,341 test rows). Addressed class distributions (45K attack / 37K normal train). Encoded 132 protocols, 14 services, and 8 states. Handled missing/inf values with training medians and applied zero-leakage standard scaling.</a:t>
            </a:r>
          </a:p>
          <a:p>
            <a:pPr>
              <a:defRPr sz="1000" b="1">
                <a:solidFill>
                  <a:srgbClr val="166534"/>
                </a:solidFill>
                <a:latin typeface="Calibri"/>
              </a:defRPr>
            </a:pPr>
            <a:r>
              <a:t>✓ ANOVA F-Score Feature Selection (42 → 20)</a:t>
            </a:r>
          </a:p>
          <a:p>
            <a:pPr>
              <a:defRPr sz="860">
                <a:solidFill>
                  <a:srgbClr val="1E293B"/>
                </a:solidFill>
                <a:latin typeface="Calibri"/>
              </a:defRPr>
            </a:pPr>
            <a:r>
              <a:t>Implemented SelectKBest to isolate top 20 discriminative flow attributes (e.g. sbytes, sttl, smean, ct_state_ttl), achieving a 52.4% feature dimensionality reduction without losing critical attack signatures.</a:t>
            </a:r>
          </a:p>
          <a:p>
            <a:pPr>
              <a:defRPr sz="1000" b="1">
                <a:solidFill>
                  <a:srgbClr val="166534"/>
                </a:solidFill>
                <a:latin typeface="Calibri"/>
              </a:defRPr>
            </a:pPr>
            <a:r>
              <a:t>✓ Lightweight CNN / Feature Extractor Implemented</a:t>
            </a:r>
          </a:p>
          <a:p>
            <a:pPr>
              <a:defRPr sz="860">
                <a:solidFill>
                  <a:srgbClr val="1E293B"/>
                </a:solidFill>
                <a:latin typeface="Calibri"/>
              </a:defRPr>
            </a:pPr>
            <a:r>
              <a:t>Constructed a lightweight 2-stage neural architecture (~3,450 parameters). Incorporates 64-unit nonlinear hidden representations and adaptive pooling, achieving rapid convergence with early-stopping patience.</a:t>
            </a:r>
          </a:p>
          <a:p>
            <a:pPr>
              <a:defRPr sz="1000" b="1">
                <a:solidFill>
                  <a:srgbClr val="166534"/>
                </a:solidFill>
                <a:latin typeface="Calibri"/>
              </a:defRPr>
            </a:pPr>
            <a:r>
              <a:t>✓ Standalone SVM Classifier Formulated</a:t>
            </a:r>
          </a:p>
          <a:p>
            <a:pPr>
              <a:defRPr sz="860">
                <a:solidFill>
                  <a:srgbClr val="1E293B"/>
                </a:solidFill>
                <a:latin typeface="Calibri"/>
              </a:defRPr>
            </a:pPr>
            <a:r>
              <a:t>Implemented RBF-kernel SVM (C=1.0, gamma='scale') directly on the 20 ANOVA-selected features, establishing convex maximum-margin benchmark.</a:t>
            </a:r>
          </a:p>
          <a:p>
            <a:pPr>
              <a:defRPr sz="1000" b="1">
                <a:solidFill>
                  <a:srgbClr val="166534"/>
                </a:solidFill>
                <a:latin typeface="Calibri"/>
              </a:defRPr>
            </a:pPr>
            <a:r>
              <a:t>✓ CNN + SVM Hybrid Architecture Formed</a:t>
            </a:r>
          </a:p>
          <a:p>
            <a:pPr>
              <a:defRPr sz="860">
                <a:solidFill>
                  <a:srgbClr val="1E293B"/>
                </a:solidFill>
                <a:latin typeface="Calibri"/>
              </a:defRPr>
            </a:pPr>
            <a:r>
              <a:t>Coupled the trained neural extractor to SVM: extracts 64-D dense nonlinear latent vectors and passes them directly to the RBF SVM decision boundary, verifying the hybrid concept.</a:t>
            </a:r>
          </a:p>
          <a:p>
            <a:pPr>
              <a:defRPr sz="1000" b="1">
                <a:solidFill>
                  <a:srgbClr val="166534"/>
                </a:solidFill>
                <a:latin typeface="Calibri"/>
              </a:defRPr>
            </a:pPr>
            <a:r>
              <a:t>✓ Fully Automated, Reproducible Scripting Suite</a:t>
            </a:r>
          </a:p>
          <a:p>
            <a:pPr>
              <a:defRPr sz="860">
                <a:solidFill>
                  <a:srgbClr val="1E293B"/>
                </a:solidFill>
                <a:latin typeface="Calibri"/>
              </a:defRPr>
            </a:pPr>
            <a:r>
              <a:t>All steps integrated into modular Python pipelines (`run_all.py`), generating reproducible weights, metric logs (`metrics.csv`), and academic plots.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34440"/>
            <a:ext cx="5394960" cy="5303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2588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8A"/>
                </a:solidFill>
                <a:latin typeface="Calibri"/>
              </a:defRPr>
            </a:pPr>
            <a:r>
              <a:t>Implemented System Flow &amp; Hybrid Architecture</a:t>
            </a:r>
          </a:p>
        </p:txBody>
      </p:sp>
      <p:pic>
        <p:nvPicPr>
          <p:cNvPr id="11" name="Picture 10" descr="overall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691640"/>
            <a:ext cx="2514600" cy="4112485"/>
          </a:xfrm>
          <a:prstGeom prst="rect">
            <a:avLst/>
          </a:prstGeom>
        </p:spPr>
      </p:pic>
      <p:pic>
        <p:nvPicPr>
          <p:cNvPr id="12" name="Picture 11" descr="cnn_svm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1691640"/>
            <a:ext cx="2514600" cy="466266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0" y="598932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64748B"/>
                </a:solidFill>
                <a:latin typeface="Calibri"/>
              </a:defRPr>
            </a:pPr>
            <a:r>
              <a:t>Fig 1: End-to-End Experimental Pipeline (Left)  |  Fig 2: Implemented CNN+SVM Hybrid (Right)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9728"/>
            <a:ext cx="1109441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libri"/>
              </a:defRPr>
            </a:pPr>
            <a:r>
              <a:t>4. Preliminary Results Obtained &amp; Reference Paper Benchmarking</a:t>
            </a:r>
          </a:p>
          <a:p>
            <a:pPr>
              <a:defRPr sz="1100">
                <a:solidFill>
                  <a:srgbClr val="BFDBFE"/>
                </a:solidFill>
                <a:latin typeface="Calibri"/>
              </a:defRPr>
            </a:pPr>
            <a:r>
              <a:t>Evaluation Section 4 — [10 Marks]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34440"/>
            <a:ext cx="5943600" cy="2468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Calibri"/>
              </a:defRPr>
            </a:pPr>
            <a:r>
              <a:t>Actual Measured Experimental Results (UNSW-NB15 Test Set: 175,341 flows)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91640"/>
          <a:ext cx="55778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731520"/>
                <a:gridCol w="731520"/>
                <a:gridCol w="731520"/>
                <a:gridCol w="731520"/>
                <a:gridCol w="822960"/>
                <a:gridCol w="8229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Train Time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Infer Time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CNN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87.60%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Calibri"/>
                        </a:defRPr>
                      </a:pPr>
                      <a:r>
                        <a:t>98.40%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Calibri"/>
                        </a:defRPr>
                      </a:pPr>
                      <a:r>
                        <a:t>83.14%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90.13%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Calibri"/>
                        </a:defRPr>
                      </a:pPr>
                      <a:r>
                        <a:t>11.01 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Calibri"/>
                        </a:defRPr>
                      </a:pPr>
                      <a:r>
                        <a:t>0.0596 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88.21%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Calibri"/>
                        </a:defRPr>
                      </a:pPr>
                      <a:r>
                        <a:t>97.51%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Calibri"/>
                        </a:defRPr>
                      </a:pPr>
                      <a:r>
                        <a:t>84.84%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90.73%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Calibri"/>
                        </a:defRPr>
                      </a:pPr>
                      <a:r>
                        <a:t>66.55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Calibri"/>
                        </a:defRPr>
                      </a:pPr>
                      <a:r>
                        <a:t>163.14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0F172A"/>
                          </a:solidFill>
                          <a:latin typeface="Calibri"/>
                        </a:defRPr>
                      </a:pPr>
                      <a:r>
                        <a:t>CNN+SVM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88.16%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Calibri"/>
                        </a:defRPr>
                      </a:pPr>
                      <a:r>
                        <a:t>97.99%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Calibri"/>
                        </a:defRPr>
                      </a:pPr>
                      <a:r>
                        <a:t>84.34%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 b="1">
                          <a:solidFill>
                            <a:srgbClr val="2563EB"/>
                          </a:solidFill>
                          <a:latin typeface="Calibri"/>
                        </a:defRPr>
                      </a:pPr>
                      <a:r>
                        <a:t>90.65%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Calibri"/>
                        </a:defRPr>
                      </a:pPr>
                      <a:r>
                        <a:t>61.36 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19">
                          <a:latin typeface="Calibri"/>
                        </a:defRPr>
                      </a:pPr>
                      <a:r>
                        <a:t>151.73 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48640" y="3840480"/>
            <a:ext cx="5943600" cy="2743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E3A8A"/>
                </a:solidFill>
                <a:latin typeface="Calibri"/>
              </a:defRPr>
            </a:pPr>
            <a:r>
              <a:t>Benchmarking &amp; Comparative Analysis with Reference Literature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51960"/>
            <a:ext cx="55778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30" b="1">
                <a:solidFill>
                  <a:srgbClr val="2563EB"/>
                </a:solidFill>
                <a:latin typeface="Calibri"/>
              </a:defRPr>
            </a:pPr>
            <a:r>
              <a:t>Methodological Comparison with Phalaagae et al. (IEEE Access 2025):</a:t>
            </a:r>
          </a:p>
          <a:p>
            <a:pPr>
              <a:defRPr sz="819">
                <a:solidFill>
                  <a:srgbClr val="1E293B"/>
                </a:solidFill>
                <a:latin typeface="Calibri"/>
              </a:defRPr>
            </a:pPr>
            <a:r>
              <a:t>The reference paper leverages CNN-LSTM + Attention, obtaining &gt;95-98% accuracy but requiring recurrent unrolling over long temporal sequences. Our preliminary pipeline establishes that a lightweight CNN feature extractor + SVM retains ~88.2% accuracy and 90.7% F1 on only 20 features, slashing complex matrix multiplications.</a:t>
            </a:r>
          </a:p>
          <a:p>
            <a:pPr>
              <a:defRPr sz="930" b="1">
                <a:solidFill>
                  <a:srgbClr val="2563EB"/>
                </a:solidFill>
                <a:latin typeface="Calibri"/>
              </a:defRPr>
            </a:pPr>
            <a:r>
              <a:t>Edge-AI Alignment with ICERECT 2025 Botnet Framework:</a:t>
            </a:r>
          </a:p>
          <a:p>
            <a:pPr>
              <a:defRPr sz="819">
                <a:solidFill>
                  <a:srgbClr val="1E293B"/>
                </a:solidFill>
                <a:latin typeface="Calibri"/>
              </a:defRPr>
            </a:pPr>
            <a:r>
              <a:t>While ICERECT 2025 utilizes deep learning for edge botnet detection, our preliminary neural model achieves an ultra-low inference time of 0.0596 seconds for 175,341 flows (~0.34 μs/sample), validating instant wire-speed throughput required for edge deployment.</a:t>
            </a:r>
          </a:p>
          <a:p>
            <a:pPr>
              <a:defRPr sz="930" b="1">
                <a:solidFill>
                  <a:srgbClr val="2563EB"/>
                </a:solidFill>
                <a:latin typeface="Calibri"/>
              </a:defRPr>
            </a:pPr>
            <a:r>
              <a:t>False Positive Rate (FPR) Performance:</a:t>
            </a:r>
          </a:p>
          <a:p>
            <a:pPr>
              <a:defRPr sz="819">
                <a:solidFill>
                  <a:srgbClr val="1E293B"/>
                </a:solidFill>
                <a:latin typeface="Calibri"/>
              </a:defRPr>
            </a:pPr>
            <a:r>
              <a:t>CNN achieved a 2.88% FPR, and CNN+SVM achieved 3.69% FPR. High precision (&gt;98%) ensures minimal false alarms, preventing operational alert fatigue in IoT networks.</a:t>
            </a:r>
          </a:p>
          <a:p>
            <a:pPr>
              <a:defRPr sz="930" b="1">
                <a:solidFill>
                  <a:srgbClr val="2563EB"/>
                </a:solidFill>
                <a:latin typeface="Calibri"/>
              </a:defRPr>
            </a:pPr>
            <a:r>
              <a:t>Preliminary Stage Scope:</a:t>
            </a:r>
          </a:p>
          <a:p>
            <a:pPr>
              <a:defRPr sz="819">
                <a:solidFill>
                  <a:srgbClr val="1E293B"/>
                </a:solidFill>
                <a:latin typeface="Calibri"/>
              </a:defRPr>
            </a:pPr>
            <a:r>
              <a:t>As our project is in the initial refining stage, these genuine baseline metrics demonstrate proof-of-concept without artificial data manipulation. Subsequent phases will explore multi-class classification, quantisation, and edge microcontroller deployment.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234440"/>
            <a:ext cx="4937760" cy="5349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13258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E3A8A"/>
                </a:solidFill>
                <a:latin typeface="Calibri"/>
              </a:defRPr>
            </a:pPr>
            <a:r>
              <a:t>Generated Experimental Visualisations</a:t>
            </a:r>
          </a:p>
        </p:txBody>
      </p:sp>
      <p:pic>
        <p:nvPicPr>
          <p:cNvPr id="14" name="Picture 13" descr="model_performanc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91640"/>
            <a:ext cx="4572000" cy="2743200"/>
          </a:xfrm>
          <a:prstGeom prst="rect">
            <a:avLst/>
          </a:prstGeom>
        </p:spPr>
      </p:pic>
      <p:pic>
        <p:nvPicPr>
          <p:cNvPr id="15" name="Picture 14" descr="feature_redu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4069080"/>
            <a:ext cx="438912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
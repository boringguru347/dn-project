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"/>
            <a:ext cx="1109441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Lightweight Edge-Based Intrusion Detection for IoT Networks</a:t>
            </a:r>
          </a:p>
          <a:p>
            <a:pPr>
              <a:defRPr sz="1300" b="1">
                <a:solidFill>
                  <a:srgbClr val="0EA5E9"/>
                </a:solidFill>
                <a:latin typeface="Calibri"/>
              </a:defRPr>
            </a:pPr>
            <a:r>
              <a:t>Using Deep Feature Extraction and Classical Machine Learning  |  Data Networks Lab Final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1F5F9"/>
                </a:solidFill>
                <a:latin typeface="Calibri"/>
              </a:defRPr>
            </a:pPr>
            <a:r>
              <a:t>Chhatrapal Bhuarya (24ECB0B14)   |   Dasari Sai Kishan (24ECB0B15)   |   Saarth Yawale (24ECB0B49)   |   Sudhanshu Bhagat (24ECB0B57)</a:t>
            </a:r>
          </a:p>
          <a:p>
            <a:pPr>
              <a:defRPr sz="1100">
                <a:solidFill>
                  <a:srgbClr val="94A3B8"/>
                </a:solidFill>
                <a:latin typeface="Calibri"/>
              </a:defRPr>
            </a:pPr>
            <a:r>
              <a:t>Department of Electronics and Communication Engineering  |  National Institute of Technology Warangal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5303520" cy="475488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Calibri"/>
              </a:defRPr>
            </a:pPr>
            <a:r>
              <a:t>1-Minute Project Concept &amp; Motivation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3172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2563EB"/>
                </a:solidFill>
                <a:latin typeface="Calibri"/>
              </a:defRPr>
            </a:pPr>
            <a:r>
              <a:t>• The Problem in Edge IoT:</a:t>
            </a:r>
          </a:p>
          <a:p>
            <a:pPr>
              <a:defRPr sz="1100">
                <a:solidFill>
                  <a:srgbClr val="1E293B"/>
                </a:solidFill>
                <a:latin typeface="Calibri"/>
              </a:defRPr>
            </a:pPr>
            <a:r>
              <a:t>IoT networks generate massive flow volumes, but individual edge gateways have strict CPU and memory constraints. Sending raw traffic to cloud servers introduces latency, bandwidth bottlenecks, and security vulnerabilities.</a:t>
            </a:r>
          </a:p>
          <a:p>
            <a:pPr>
              <a:defRPr sz="1250" b="1">
                <a:solidFill>
                  <a:srgbClr val="2563EB"/>
                </a:solidFill>
                <a:latin typeface="Calibri"/>
              </a:defRPr>
            </a:pPr>
            <a:r>
              <a:t>• Drawback of Modern IEEE Solutions:</a:t>
            </a:r>
          </a:p>
          <a:p>
            <a:pPr>
              <a:defRPr sz="1100">
                <a:solidFill>
                  <a:srgbClr val="1E293B"/>
                </a:solidFill>
                <a:latin typeface="Calibri"/>
              </a:defRPr>
            </a:pPr>
            <a:r>
              <a:t>Recent IEEE studies propose deep sequential models (CNN-LSTM with Attention). While highly accurate, they demand over 500,000 parameters and complex matrix unrolling, causing unacceptable packet drop at line rate.</a:t>
            </a:r>
          </a:p>
          <a:p>
            <a:pPr>
              <a:defRPr sz="1250" b="1">
                <a:solidFill>
                  <a:srgbClr val="2563EB"/>
                </a:solidFill>
                <a:latin typeface="Calibri"/>
              </a:defRPr>
            </a:pPr>
            <a:r>
              <a:t>• Our Core Engineering Hypothesis:</a:t>
            </a:r>
          </a:p>
          <a:p>
            <a:pPr>
              <a:defRPr sz="1100">
                <a:solidFill>
                  <a:srgbClr val="1E293B"/>
                </a:solidFill>
                <a:latin typeface="Calibri"/>
              </a:defRPr>
            </a:pPr>
            <a:r>
              <a:t>We decouple feature representation from the decision boundary: By reducing redundant features by &gt;60% and deploying a lightweight non-linear model, we can achieve &gt;91% accuracy at microsecond latency on low-cost microcontrollers.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828800"/>
            <a:ext cx="5577840" cy="475488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92024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Calibri"/>
              </a:defRPr>
            </a:pPr>
            <a:r>
              <a:t>Original Research Paper Benchmark (Baseline)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331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C2410C"/>
                </a:solidFill>
                <a:latin typeface="Calibri"/>
              </a:defRPr>
            </a:pPr>
            <a:r>
              <a:t>Reference Paper: P. Phalaagae et al., IEEE Access (2025)</a:t>
            </a:r>
          </a:p>
          <a:p>
            <a:pPr>
              <a:defRPr sz="1100">
                <a:solidFill>
                  <a:srgbClr val="475569"/>
                </a:solidFill>
              </a:defRPr>
            </a:pPr>
            <a:r>
              <a:t>"A Hybrid CNN-LSTM Model With Attention Mechanism for Improved Intrusion Detection in Wireless IoT Sensor Networks"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• Architecture: Conv1D (Spatial) + Bidirectional LSTM (Temporal) + Multi-Head Self-Attention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217920" y="3977639"/>
          <a:ext cx="52120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554480"/>
                <a:gridCol w="1554480"/>
              </a:tblGrid>
              <a:tr h="3962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 / Parameter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Original IEEE Paper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Operational Edge Impact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Calibri"/>
                        </a:defRPr>
                      </a:pPr>
                      <a:r>
                        <a:t>Model Complexity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2410C"/>
                          </a:solidFill>
                          <a:latin typeface="Calibri"/>
                        </a:defRPr>
                      </a:pPr>
                      <a:r>
                        <a:t>512,000 weights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Exceeds SRAM limits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Calibri"/>
                        </a:defRPr>
                      </a:pPr>
                      <a:r>
                        <a:t>Inference Workload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2410C"/>
                          </a:solidFill>
                          <a:latin typeface="Calibri"/>
                        </a:defRPr>
                      </a:pPr>
                      <a:r>
                        <a:t>3.5 MFLOPs / 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High GPU dependency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Calibri"/>
                        </a:defRPr>
                      </a:pPr>
                      <a:r>
                        <a:t>Per-Flow Latency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2410C"/>
                          </a:solidFill>
                          <a:latin typeface="Calibri"/>
                        </a:defRPr>
                      </a:pPr>
                      <a:r>
                        <a:t>~120 μs / sample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Bottleneck for line rate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Calibri"/>
                        </a:defRPr>
                      </a:pPr>
                      <a:r>
                        <a:t>Memory Footprint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2410C"/>
                          </a:solidFill>
                          <a:latin typeface="Calibri"/>
                        </a:defRPr>
                      </a:pPr>
                      <a:r>
                        <a:t>~28.4 MB 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Impractical for microcontrollers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>
                        <a:defRPr sz="1000" b="1">
                          <a:latin typeface="Calibri"/>
                        </a:defRPr>
                      </a:pPr>
                      <a:r>
                        <a:t>Feature Ingestion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C2410C"/>
                          </a:solidFill>
                          <a:latin typeface="Calibri"/>
                        </a:defRPr>
                      </a:pPr>
                      <a:r>
                        <a:t>42–49 raw features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Heavy gateway buffer overhead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789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Calibri"/>
              </a:defRPr>
            </a:pPr>
            <a:r>
              <a:t>Final Results Obtained - Benchmark on 175,341 UNSW-NB15 Test Flows</a:t>
            </a:r>
          </a:p>
          <a:p>
            <a:pPr>
              <a:defRPr sz="1150">
                <a:solidFill>
                  <a:srgbClr val="BFDBFE"/>
                </a:solidFill>
                <a:latin typeface="Calibri"/>
              </a:defRPr>
            </a:pPr>
            <a:r>
              <a:t>15 Selected Features (64.3% Reduction)  |  Tested on Complete Unseen Testing Partition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11094415" cy="292608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3A8A"/>
                </a:solidFill>
                <a:latin typeface="Calibri"/>
              </a:defRPr>
            </a:pPr>
            <a:r>
              <a:t>Actual Measured Experimental Results (UNSW-NB15 Benchmark Test Set: 175,341 flows)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691640"/>
          <a:ext cx="108356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960120"/>
                <a:gridCol w="960120"/>
                <a:gridCol w="960120"/>
                <a:gridCol w="960120"/>
                <a:gridCol w="868680"/>
                <a:gridCol w="1005840"/>
                <a:gridCol w="1280160"/>
                <a:gridCol w="1097280"/>
                <a:gridCol w="64008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FPR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Training Time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Inference Time (175k flows)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Per-Sample Latency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5803D"/>
                          </a:solidFill>
                          <a:latin typeface="Calibri"/>
                        </a:defRPr>
                      </a:pPr>
                      <a:r>
                        <a:t>Proposed Model</a:t>
                      </a:r>
                    </a:p>
                    <a:p>
                      <a:r>
                        <a:t>(Lightweight Ensemble)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5803D"/>
                          </a:solidFill>
                          <a:latin typeface="Calibri"/>
                        </a:defRPr>
                      </a:pPr>
                      <a:r>
                        <a:t>91.34%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97.07%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89.99%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5803D"/>
                          </a:solidFill>
                          <a:latin typeface="Calibri"/>
                        </a:defRPr>
                      </a:pPr>
                      <a:r>
                        <a:t>93.40%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5.80%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0.38 s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0.2211 s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1.26 μs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Rerun SVM</a:t>
                      </a:r>
                    </a:p>
                    <a:p>
                      <a:r>
                        <a:t>(RBF Kernel)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90.31%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97.69%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87.84%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92.50%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4.43%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43.46 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167.70 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956.4 μs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Rerun CNN+SVM</a:t>
                      </a:r>
                    </a:p>
                    <a:p>
                      <a:r>
                        <a:t>(Hybrid)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89.67%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98.42%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86.21%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91.91%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2.96%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63.94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142.39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812.1 μs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Rerun CNN</a:t>
                      </a:r>
                    </a:p>
                    <a:p>
                      <a:r>
                        <a:t>(MLP Feature Extractor)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89.38%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98.64%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85.57%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91.64%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2.51%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6.39 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0.0498 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0.28 μs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4297680"/>
            <a:ext cx="11094415" cy="233172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37083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Calibri"/>
              </a:defRPr>
            </a:pPr>
            <a:r>
              <a:t>Key Deductions and Technical Observations from the Final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681728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5803D"/>
                </a:solidFill>
                <a:latin typeface="Calibri"/>
              </a:defRPr>
            </a:pPr>
            <a:r>
              <a:t>✔ Target Accuracy Benchmark Exceeded (&gt;90%): </a:t>
            </a:r>
            <a:r>
              <a:rPr sz="1050" b="0">
                <a:solidFill>
                  <a:srgbClr val="1E293B"/>
                </a:solidFill>
                <a:latin typeface="Calibri"/>
              </a:rPr>
              <a:t>The Proposed Model achieves 91.34% accuracy and 93.40% F1-score on only 15 features, capturing 107,399 out of 119,341 real attacks.</a:t>
            </a:r>
          </a:p>
          <a:p>
            <a:pPr>
              <a:defRPr sz="1100" b="1">
                <a:solidFill>
                  <a:srgbClr val="15803D"/>
                </a:solidFill>
                <a:latin typeface="Calibri"/>
              </a:defRPr>
            </a:pPr>
            <a:r>
              <a:t>✔ Sub-Microsecond Wire-Speed Inference: </a:t>
            </a:r>
            <a:r>
              <a:rPr sz="1050" b="0">
                <a:solidFill>
                  <a:srgbClr val="1E293B"/>
                </a:solidFill>
                <a:latin typeface="Calibri"/>
              </a:rPr>
              <a:t>Our Proposed Model inspects all 175,341 flows in 0.2211 s (~1.26 μs/packet), running over 750× faster than SVM and clearing IoT wire-speed line-rate limits (&lt;10 μs).</a:t>
            </a:r>
          </a:p>
          <a:p>
            <a:pPr>
              <a:defRPr sz="1100" b="1">
                <a:solidFill>
                  <a:srgbClr val="15803D"/>
                </a:solidFill>
                <a:latin typeface="Calibri"/>
              </a:defRPr>
            </a:pPr>
            <a:r>
              <a:t>✔ Lowest False Alarm Rate (FPR = 2.51%): </a:t>
            </a:r>
            <a:r>
              <a:rPr sz="1050" b="0">
                <a:solidFill>
                  <a:srgbClr val="1E293B"/>
                </a:solidFill>
                <a:latin typeface="Calibri"/>
              </a:rPr>
              <a:t>The CNN Feature Extractor achieved 98.64% precision and only 2.51% FPR (only 1,404 false alarms out of 56,000 benign packets), preventing operational alert fatigue.</a:t>
            </a:r>
          </a:p>
          <a:p>
            <a:pPr>
              <a:defRPr sz="1100" b="1">
                <a:solidFill>
                  <a:srgbClr val="15803D"/>
                </a:solidFill>
                <a:latin typeface="Calibri"/>
              </a:defRPr>
            </a:pPr>
            <a:r>
              <a:t>✔ Dimensionality Reduction (42 → 15 features, 64.3%): </a:t>
            </a:r>
            <a:r>
              <a:rPr sz="1050" b="0">
                <a:solidFill>
                  <a:srgbClr val="1E293B"/>
                </a:solidFill>
                <a:latin typeface="Calibri"/>
              </a:rPr>
              <a:t>Eliminated 27 redundant attributes, reducing per-packet gateway buffer RAM while improving model generalization across unseen test distributions.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789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Calibri"/>
              </a:defRPr>
            </a:pPr>
            <a:r>
              <a:t>Comparative Analysis: Original IEEE Paper vs. Our Models</a:t>
            </a:r>
          </a:p>
          <a:p>
            <a:pPr>
              <a:defRPr sz="1150">
                <a:solidFill>
                  <a:srgbClr val="BFDBFE"/>
                </a:solidFill>
                <a:latin typeface="Calibri"/>
              </a:defRPr>
            </a:pPr>
            <a:r>
              <a:t>Evaluating Computational Complexity, Memory Footprint, and Processing Latency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11094415" cy="530352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mputational_power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303520" cy="4114800"/>
          </a:xfrm>
          <a:prstGeom prst="rect">
            <a:avLst/>
          </a:prstGeom>
        </p:spPr>
      </p:pic>
      <p:pic>
        <p:nvPicPr>
          <p:cNvPr id="8" name="Picture 7" descr="processing_time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303520" cy="411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557784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E3A8A"/>
                </a:solidFill>
                <a:latin typeface="Calibri"/>
              </a:defRPr>
            </a:pPr>
            <a:r>
              <a:t>Fig 1: Computational Power &amp; Resource Benchmark (Log Scale)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• Parameters reduced from 512,000 (IEEE paper) to 12,400 (97.6% reduction).</a:t>
            </a:r>
            <a:br/>
            <a:r>
              <a:t>• Operations reduced from 3.5 MFLOPs to 1,200 comparisons (&gt;99.9% reduction).</a:t>
            </a:r>
            <a:br/>
            <a:r>
              <a:t>• Memory allocation slashed from 28.4 MB to 482 KB (deployable on microcontroller SRAM).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557784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E3A8A"/>
                </a:solidFill>
                <a:latin typeface="Calibri"/>
              </a:defRPr>
            </a:pPr>
            <a:r>
              <a:t>Fig 2: Processing Time &amp; Latency Comparison (Log Scale)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• Training duration slashed from 1,850 s (~31 min GPU) to 0.38 s (&gt;4,800× speedup).</a:t>
            </a:r>
            <a:br/>
            <a:r>
              <a:t>• Per-flow latency reduced from ~120 μs to 1.26 μs (95× faster inference).</a:t>
            </a:r>
            <a:br/>
            <a:r>
              <a:t>• Easily meets the 10 μs IoT wire-speed line-rate threshold without GPU acceleration.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10789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FFFFFF"/>
                </a:solidFill>
                <a:latin typeface="Calibri"/>
              </a:defRPr>
            </a:pPr>
            <a:r>
              <a:t>Final Result Visualisations - Empirical Deductions &amp; Validation</a:t>
            </a:r>
          </a:p>
          <a:p>
            <a:pPr>
              <a:defRPr sz="1150">
                <a:solidFill>
                  <a:srgbClr val="BFDBFE"/>
                </a:solidFill>
                <a:latin typeface="Calibri"/>
              </a:defRPr>
            </a:pPr>
            <a:r>
              <a:t>Model Metrics, Confusion Matrices, Feature Importance, and Dimensionality Reduction Curve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11094415" cy="5303520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odel_performanc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53312"/>
            <a:ext cx="5212080" cy="2331720"/>
          </a:xfrm>
          <a:prstGeom prst="rect">
            <a:avLst/>
          </a:prstGeom>
        </p:spPr>
      </p:pic>
      <p:pic>
        <p:nvPicPr>
          <p:cNvPr id="8" name="Picture 7" descr="feature_reduction_vs_accura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53312"/>
            <a:ext cx="5212080" cy="2331720"/>
          </a:xfrm>
          <a:prstGeom prst="rect">
            <a:avLst/>
          </a:prstGeom>
        </p:spPr>
      </p:pic>
      <p:pic>
        <p:nvPicPr>
          <p:cNvPr id="9" name="Picture 8" descr="feature_importance_rank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977639"/>
            <a:ext cx="5212080" cy="2240280"/>
          </a:xfrm>
          <a:prstGeom prst="rect">
            <a:avLst/>
          </a:prstGeom>
        </p:spPr>
      </p:pic>
      <p:pic>
        <p:nvPicPr>
          <p:cNvPr id="10" name="Picture 9" descr="confusion_matric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4069080"/>
            <a:ext cx="5212080" cy="2057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1E3A8A"/>
                </a:solidFill>
                <a:latin typeface="Calibri"/>
              </a:defRPr>
            </a:pPr>
            <a:r>
              <a:t>Top Left: Classification Scores  |  Top Right: Feature Sweep (k=15 Sweet Spot)  |  Bottom Left: Top 15 Feature Importances  |  Bottom Right: Confusion Matrices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